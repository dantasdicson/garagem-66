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FCDB774-DC01-40EB-B4C2-42C6A7C5215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45836E-4E68-4603-ACDD-2565470374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70DB3B-6B7B-4816-B234-3CC52DF551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6361BD-6CA0-4F00-BC7B-3AC3B93F06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FB7DC0-FD53-44B5-AD53-1DE28CE2DB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B7D56A-2D6E-45F4-951E-C3BB9FC380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C91756-CE5E-45FA-BF3D-4781304174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6AAB2B-2204-4954-8AC9-DEB380772E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2109BA-6E3B-411E-83AD-97992A97D6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6B177C-AA9B-4C6F-8DB0-C54F14697A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634D72-9E88-4323-96F7-756B8294E0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E10057-C63E-4E0A-84B6-49C90B6E69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70B72C-41DC-4E4A-B664-0C81178BDF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ADD8B4-A550-4B50-AECD-186383E37A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hyperlink" Target="https://garagem-66.vercel.app" TargetMode="External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/>
          <p:nvPr/>
        </p:nvSpPr>
        <p:spPr>
          <a:xfrm>
            <a:off x="621720" y="685800"/>
            <a:ext cx="54360" cy="914040"/>
          </a:xfrm>
          <a:prstGeom prst="rect">
            <a:avLst/>
          </a:prstGeom>
          <a:solidFill>
            <a:srgbClr val="C41C27"/>
          </a:solidFill>
          <a:ln>
            <a:solidFill>
              <a:srgbClr val="C4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" name="TextBox 2"/>
          <p:cNvSpPr/>
          <p:nvPr/>
        </p:nvSpPr>
        <p:spPr>
          <a:xfrm>
            <a:off x="841320" y="694800"/>
            <a:ext cx="4205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1" u="none" strike="noStrike">
                <a:solidFill>
                  <a:srgbClr val="C41C27"/>
                </a:solidFill>
                <a:effectLst/>
                <a:uFillTx/>
                <a:latin typeface="Aptos"/>
              </a:rPr>
              <a:t>SISTEMA WEB PARA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Box 3"/>
          <p:cNvSpPr/>
          <p:nvPr/>
        </p:nvSpPr>
        <p:spPr>
          <a:xfrm>
            <a:off x="841320" y="1024200"/>
            <a:ext cx="44344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Gerenciamento de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oficinas de motos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Box 4"/>
          <p:cNvSpPr/>
          <p:nvPr/>
        </p:nvSpPr>
        <p:spPr>
          <a:xfrm>
            <a:off x="841320" y="2578680"/>
            <a:ext cx="2834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Garagem 66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Box 5"/>
          <p:cNvSpPr/>
          <p:nvPr/>
        </p:nvSpPr>
        <p:spPr>
          <a:xfrm>
            <a:off x="841320" y="2980800"/>
            <a:ext cx="43887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r>
              <a:rPr lang="pt-BR" sz="1300" b="0" u="none" strike="noStrike">
                <a:solidFill>
                  <a:srgbClr val="CCD6DD"/>
                </a:solidFill>
                <a:effectLst/>
                <a:uFillTx/>
                <a:latin typeface="Aptos"/>
              </a:rPr>
              <a:t>Controle do atendimento, rastreabilidade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300" b="0" u="none" strike="noStrike">
                <a:solidFill>
                  <a:srgbClr val="CCD6DD"/>
                </a:solidFill>
                <a:effectLst/>
                <a:uFillTx/>
                <a:latin typeface="Aptos"/>
              </a:rPr>
              <a:t>e transparência em cada etapa do serviço.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Rectangle 6"/>
          <p:cNvSpPr/>
          <p:nvPr/>
        </p:nvSpPr>
        <p:spPr>
          <a:xfrm>
            <a:off x="841320" y="3794760"/>
            <a:ext cx="1325520" cy="31680"/>
          </a:xfrm>
          <a:prstGeom prst="rect">
            <a:avLst/>
          </a:prstGeom>
          <a:solidFill>
            <a:srgbClr val="C41C27"/>
          </a:solidFill>
          <a:ln>
            <a:solidFill>
              <a:srgbClr val="C4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6" name="TextBox 7"/>
          <p:cNvSpPr/>
          <p:nvPr/>
        </p:nvSpPr>
        <p:spPr>
          <a:xfrm>
            <a:off x="841320" y="6080760"/>
            <a:ext cx="448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B5C0C9"/>
                </a:solidFill>
                <a:effectLst/>
                <a:uFillTx/>
                <a:latin typeface="Aptos"/>
              </a:rPr>
              <a:t>Solução implementada, testada e publicada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Rounded Rectangle 8"/>
          <p:cNvSpPr/>
          <p:nvPr/>
        </p:nvSpPr>
        <p:spPr>
          <a:xfrm>
            <a:off x="5760720" y="1234440"/>
            <a:ext cx="5742000" cy="3885840"/>
          </a:xfrm>
          <a:prstGeom prst="roundRect">
            <a:avLst>
              <a:gd name="adj" fmla="val 16667"/>
            </a:avLst>
          </a:prstGeom>
          <a:solidFill>
            <a:srgbClr val="15232C"/>
          </a:solidFill>
          <a:ln>
            <a:solidFill>
              <a:srgbClr val="42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8" name="Picture 9" descr="image.png"/>
          <p:cNvPicPr/>
          <p:nvPr/>
        </p:nvPicPr>
        <p:blipFill>
          <a:blip r:embed="rId1"/>
          <a:stretch/>
        </p:blipFill>
        <p:spPr>
          <a:xfrm>
            <a:off x="5906880" y="2110320"/>
            <a:ext cx="5449320" cy="2134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0" name="Rectangle 2"/>
          <p:cNvSpPr/>
          <p:nvPr/>
        </p:nvSpPr>
        <p:spPr>
          <a:xfrm>
            <a:off x="411480" y="128160"/>
            <a:ext cx="50040" cy="310680"/>
          </a:xfrm>
          <a:prstGeom prst="rect">
            <a:avLst/>
          </a:prstGeom>
          <a:solidFill>
            <a:srgbClr val="C41C27"/>
          </a:solidFill>
          <a:ln>
            <a:solidFill>
              <a:srgbClr val="C4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1" name="TextBox 3"/>
          <p:cNvSpPr/>
          <p:nvPr/>
        </p:nvSpPr>
        <p:spPr>
          <a:xfrm>
            <a:off x="603360" y="9144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12435"/>
                </a:solidFill>
                <a:effectLst/>
                <a:uFillTx/>
                <a:latin typeface="Aptos"/>
              </a:rPr>
              <a:t>Introdução da solução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Box 4"/>
          <p:cNvSpPr/>
          <p:nvPr/>
        </p:nvSpPr>
        <p:spPr>
          <a:xfrm>
            <a:off x="603360" y="365760"/>
            <a:ext cx="7863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Síntese do problema atendido e da resposta implementada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Rectangle 5"/>
          <p:cNvSpPr/>
          <p:nvPr/>
        </p:nvSpPr>
        <p:spPr>
          <a:xfrm>
            <a:off x="0" y="649080"/>
            <a:ext cx="12191400" cy="10440"/>
          </a:xfrm>
          <a:prstGeom prst="rect">
            <a:avLst/>
          </a:prstGeom>
          <a:solidFill>
            <a:srgbClr val="D8DEE4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4" name="TextBox 6"/>
          <p:cNvSpPr/>
          <p:nvPr/>
        </p:nvSpPr>
        <p:spPr>
          <a:xfrm>
            <a:off x="411480" y="6510600"/>
            <a:ext cx="3108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7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Garagem 66  •  Projeto de Sistema Web</a:t>
            </a:r>
            <a:endParaRPr lang="pt-B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Box 7"/>
          <p:cNvSpPr/>
          <p:nvPr/>
        </p:nvSpPr>
        <p:spPr>
          <a:xfrm>
            <a:off x="11539800" y="649224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Box 8"/>
          <p:cNvSpPr/>
          <p:nvPr/>
        </p:nvSpPr>
        <p:spPr>
          <a:xfrm>
            <a:off x="594360" y="932760"/>
            <a:ext cx="8960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500" b="1" u="none" strike="noStrike">
                <a:solidFill>
                  <a:srgbClr val="112435"/>
                </a:solidFill>
                <a:effectLst/>
                <a:uFillTx/>
                <a:latin typeface="Aptos"/>
              </a:rPr>
              <a:t>Uma operação mais organizada e rastreável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Box 9"/>
          <p:cNvSpPr/>
          <p:nvPr/>
        </p:nvSpPr>
        <p:spPr>
          <a:xfrm>
            <a:off x="594360" y="1417320"/>
            <a:ext cx="1078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3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A Garagem 66 digitaliza o atendimento da entrada da motocicleta à conclusão da ordem de serviço, mantendo decisões, registros e histórico acessíveis aos perfis autorizados.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Rounded Rectangle 10"/>
          <p:cNvSpPr/>
          <p:nvPr/>
        </p:nvSpPr>
        <p:spPr>
          <a:xfrm>
            <a:off x="621720" y="2331720"/>
            <a:ext cx="10926720" cy="639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9" name="TextBox 11"/>
          <p:cNvSpPr/>
          <p:nvPr/>
        </p:nvSpPr>
        <p:spPr>
          <a:xfrm>
            <a:off x="841320" y="24962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1" u="none" strike="noStrike">
                <a:solidFill>
                  <a:srgbClr val="C41C27"/>
                </a:solidFill>
                <a:effectLst/>
                <a:uFillTx/>
                <a:latin typeface="Aptos"/>
              </a:rPr>
              <a:t>01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Rectangle 12"/>
          <p:cNvSpPr/>
          <p:nvPr/>
        </p:nvSpPr>
        <p:spPr>
          <a:xfrm>
            <a:off x="1344240" y="2459880"/>
            <a:ext cx="10440" cy="383760"/>
          </a:xfrm>
          <a:prstGeom prst="rect">
            <a:avLst/>
          </a:prstGeom>
          <a:solidFill>
            <a:srgbClr val="D8DEE4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1" name="TextBox 13"/>
          <p:cNvSpPr/>
          <p:nvPr/>
        </p:nvSpPr>
        <p:spPr>
          <a:xfrm>
            <a:off x="1572840" y="24598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112435"/>
                </a:solidFill>
                <a:effectLst/>
                <a:uFillTx/>
                <a:latin typeface="Aptos"/>
              </a:rPr>
              <a:t>Centralização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Box 14"/>
          <p:cNvSpPr/>
          <p:nvPr/>
        </p:nvSpPr>
        <p:spPr>
          <a:xfrm>
            <a:off x="3310200" y="2459880"/>
            <a:ext cx="7817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Cadastro, checklist, fotos, orçamento e ordem de serviço em um único fluxo.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Rounded Rectangle 15"/>
          <p:cNvSpPr/>
          <p:nvPr/>
        </p:nvSpPr>
        <p:spPr>
          <a:xfrm>
            <a:off x="621720" y="3136320"/>
            <a:ext cx="10926720" cy="639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4" name="TextBox 16"/>
          <p:cNvSpPr/>
          <p:nvPr/>
        </p:nvSpPr>
        <p:spPr>
          <a:xfrm>
            <a:off x="841320" y="330084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1" u="none" strike="noStrike">
                <a:solidFill>
                  <a:srgbClr val="C41C27"/>
                </a:solidFill>
                <a:effectLst/>
                <a:uFillTx/>
                <a:latin typeface="Aptos"/>
              </a:rPr>
              <a:t>02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Rectangle 17"/>
          <p:cNvSpPr/>
          <p:nvPr/>
        </p:nvSpPr>
        <p:spPr>
          <a:xfrm>
            <a:off x="1344240" y="3264480"/>
            <a:ext cx="10440" cy="383760"/>
          </a:xfrm>
          <a:prstGeom prst="rect">
            <a:avLst/>
          </a:prstGeom>
          <a:solidFill>
            <a:srgbClr val="D8DEE4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6" name="TextBox 18"/>
          <p:cNvSpPr/>
          <p:nvPr/>
        </p:nvSpPr>
        <p:spPr>
          <a:xfrm>
            <a:off x="1572840" y="32644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112435"/>
                </a:solidFill>
                <a:effectLst/>
                <a:uFillTx/>
                <a:latin typeface="Aptos"/>
              </a:rPr>
              <a:t>Comprovação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Box 19"/>
          <p:cNvSpPr/>
          <p:nvPr/>
        </p:nvSpPr>
        <p:spPr>
          <a:xfrm>
            <a:off x="3310200" y="3264480"/>
            <a:ext cx="7817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Aprovações, recusas e peças utilizadas permanecem registradas no histórico.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Rounded Rectangle 20"/>
          <p:cNvSpPr/>
          <p:nvPr/>
        </p:nvSpPr>
        <p:spPr>
          <a:xfrm>
            <a:off x="621720" y="3940920"/>
            <a:ext cx="10926720" cy="639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9" name="TextBox 21"/>
          <p:cNvSpPr/>
          <p:nvPr/>
        </p:nvSpPr>
        <p:spPr>
          <a:xfrm>
            <a:off x="841320" y="4105800"/>
            <a:ext cx="383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1" u="none" strike="noStrike">
                <a:solidFill>
                  <a:srgbClr val="C41C27"/>
                </a:solidFill>
                <a:effectLst/>
                <a:uFillTx/>
                <a:latin typeface="Aptos"/>
              </a:rPr>
              <a:t>03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Rectangle 22"/>
          <p:cNvSpPr/>
          <p:nvPr/>
        </p:nvSpPr>
        <p:spPr>
          <a:xfrm>
            <a:off x="1344240" y="4069080"/>
            <a:ext cx="10440" cy="383760"/>
          </a:xfrm>
          <a:prstGeom prst="rect">
            <a:avLst/>
          </a:prstGeom>
          <a:solidFill>
            <a:srgbClr val="D8DEE4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1" name="TextBox 23"/>
          <p:cNvSpPr/>
          <p:nvPr/>
        </p:nvSpPr>
        <p:spPr>
          <a:xfrm>
            <a:off x="1572840" y="4069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112435"/>
                </a:solidFill>
                <a:effectLst/>
                <a:uFillTx/>
                <a:latin typeface="Aptos"/>
              </a:rPr>
              <a:t>Transparência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Box 24"/>
          <p:cNvSpPr/>
          <p:nvPr/>
        </p:nvSpPr>
        <p:spPr>
          <a:xfrm>
            <a:off x="3310200" y="4069080"/>
            <a:ext cx="7817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Cliente e equipe consultam as informações conforme suas responsabilidades.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21792" y="4956048"/>
            <a:ext cx="10927080" cy="100584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7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32104" y="5120640"/>
            <a:ext cx="45720" cy="201168"/>
          </a:xfrm>
          <a:prstGeom prst="rect">
            <a:avLst/>
          </a:prstGeom>
          <a:solidFill>
            <a:srgbClr val="CF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" y="5074920"/>
            <a:ext cx="196596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0C2332"/>
                </a:solidFill>
                <a:latin typeface="Arial"/>
              </a:rPr>
              <a:t>FLUXO DO ATENDIMENTO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5084064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20" b="0">
                <a:solidFill>
                  <a:srgbClr val="637381"/>
                </a:solidFill>
                <a:latin typeface="Arial"/>
              </a:rPr>
              <a:t>da entrada ao histórico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2104" y="5431536"/>
            <a:ext cx="1572768" cy="347472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3544" y="5490972"/>
            <a:ext cx="228600" cy="228600"/>
          </a:xfrm>
          <a:prstGeom prst="ellipse">
            <a:avLst/>
          </a:prstGeom>
          <a:solidFill>
            <a:srgbClr val="CF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" y="5490972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25296" y="5481828"/>
            <a:ext cx="112471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0" b="1">
                <a:solidFill>
                  <a:srgbClr val="1B2A37"/>
                </a:solidFill>
                <a:latin typeface="Arial"/>
              </a:rPr>
              <a:t>Entrada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18588" y="5472684"/>
            <a:ext cx="1828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37381"/>
                </a:solidFill>
                <a:latin typeface="Arial"/>
              </a:rPr>
              <a:t>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15184" y="5431536"/>
            <a:ext cx="1572768" cy="347472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06624" y="5490972"/>
            <a:ext cx="228600" cy="228600"/>
          </a:xfrm>
          <a:prstGeom prst="ellipse">
            <a:avLst/>
          </a:prstGeom>
          <a:solidFill>
            <a:srgbClr val="0C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6624" y="5490972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08376" y="5481828"/>
            <a:ext cx="112471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0" b="1">
                <a:solidFill>
                  <a:srgbClr val="1B2A37"/>
                </a:solidFill>
                <a:latin typeface="Arial"/>
              </a:rPr>
              <a:t>Checklist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01668" y="5472684"/>
            <a:ext cx="1828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37381"/>
                </a:solidFill>
                <a:latin typeface="Arial"/>
              </a:rPr>
              <a:t>›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98264" y="5431536"/>
            <a:ext cx="1572768" cy="347472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489703" y="5490972"/>
            <a:ext cx="228600" cy="228600"/>
          </a:xfrm>
          <a:prstGeom prst="ellipse">
            <a:avLst/>
          </a:prstGeom>
          <a:solidFill>
            <a:srgbClr val="0C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89703" y="5490972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91455" y="5481828"/>
            <a:ext cx="112471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0" b="1">
                <a:solidFill>
                  <a:srgbClr val="1B2A37"/>
                </a:solidFill>
                <a:latin typeface="Arial"/>
              </a:rPr>
              <a:t>Orçamento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84747" y="5472684"/>
            <a:ext cx="1828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37381"/>
                </a:solidFill>
                <a:latin typeface="Arial"/>
              </a:rPr>
              <a:t>›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81344" y="5431536"/>
            <a:ext cx="1572768" cy="347472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2783" y="5490972"/>
            <a:ext cx="228600" cy="228600"/>
          </a:xfrm>
          <a:prstGeom prst="ellipse">
            <a:avLst/>
          </a:prstGeom>
          <a:solidFill>
            <a:srgbClr val="CF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72783" y="5490972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74536" y="5481828"/>
            <a:ext cx="112471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0" b="1">
                <a:solidFill>
                  <a:srgbClr val="1B2A37"/>
                </a:solidFill>
                <a:latin typeface="Arial"/>
              </a:rPr>
              <a:t>Aprovação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67828" y="5472684"/>
            <a:ext cx="1828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37381"/>
                </a:solidFill>
                <a:latin typeface="Arial"/>
              </a:rPr>
              <a:t>›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964423" y="5431536"/>
            <a:ext cx="1572768" cy="347472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055863" y="5490972"/>
            <a:ext cx="228600" cy="228600"/>
          </a:xfrm>
          <a:prstGeom prst="ellipse">
            <a:avLst/>
          </a:prstGeom>
          <a:solidFill>
            <a:srgbClr val="0C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55863" y="5490972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57615" y="5481828"/>
            <a:ext cx="112471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0" b="1">
                <a:solidFill>
                  <a:srgbClr val="1B2A37"/>
                </a:solidFill>
                <a:latin typeface="Arial"/>
              </a:rPr>
              <a:t>Execução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50908" y="5472684"/>
            <a:ext cx="18288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637381"/>
                </a:solidFill>
                <a:latin typeface="Arial"/>
              </a:rPr>
              <a:t>›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747504" y="5431536"/>
            <a:ext cx="1572768" cy="347472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7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838944" y="5490972"/>
            <a:ext cx="228600" cy="228600"/>
          </a:xfrm>
          <a:prstGeom prst="ellipse">
            <a:avLst/>
          </a:prstGeom>
          <a:solidFill>
            <a:srgbClr val="CF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38944" y="5490972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40696" y="5481828"/>
            <a:ext cx="112471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0" b="1">
                <a:solidFill>
                  <a:srgbClr val="1B2A37"/>
                </a:solidFill>
                <a:latin typeface="Arial"/>
              </a:rPr>
              <a:t>Histórico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1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7" name="Rectangle 2"/>
          <p:cNvSpPr/>
          <p:nvPr/>
        </p:nvSpPr>
        <p:spPr>
          <a:xfrm>
            <a:off x="411480" y="128160"/>
            <a:ext cx="50040" cy="310680"/>
          </a:xfrm>
          <a:prstGeom prst="rect">
            <a:avLst/>
          </a:prstGeom>
          <a:solidFill>
            <a:srgbClr val="C41C27"/>
          </a:solidFill>
          <a:ln>
            <a:solidFill>
              <a:srgbClr val="C4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8" name="TextBox 3"/>
          <p:cNvSpPr/>
          <p:nvPr/>
        </p:nvSpPr>
        <p:spPr>
          <a:xfrm>
            <a:off x="603360" y="9144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12435"/>
                </a:solidFill>
                <a:effectLst/>
                <a:uFillTx/>
                <a:latin typeface="Aptos"/>
              </a:rPr>
              <a:t>Contexto e problema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4"/>
          <p:cNvSpPr/>
          <p:nvPr/>
        </p:nvSpPr>
        <p:spPr>
          <a:xfrm>
            <a:off x="603360" y="365760"/>
            <a:ext cx="7863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Pontos operacionais que orientaram a solução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ectangle 5"/>
          <p:cNvSpPr/>
          <p:nvPr/>
        </p:nvSpPr>
        <p:spPr>
          <a:xfrm>
            <a:off x="0" y="649080"/>
            <a:ext cx="12191400" cy="10440"/>
          </a:xfrm>
          <a:prstGeom prst="rect">
            <a:avLst/>
          </a:prstGeom>
          <a:solidFill>
            <a:srgbClr val="D8DEE4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1" name="TextBox 6"/>
          <p:cNvSpPr/>
          <p:nvPr/>
        </p:nvSpPr>
        <p:spPr>
          <a:xfrm>
            <a:off x="411480" y="6510600"/>
            <a:ext cx="3108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7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Garagem 66  •  Projeto de Sistema Web</a:t>
            </a:r>
            <a:endParaRPr lang="pt-B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7"/>
          <p:cNvSpPr/>
          <p:nvPr/>
        </p:nvSpPr>
        <p:spPr>
          <a:xfrm>
            <a:off x="11539800" y="649224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8"/>
          <p:cNvSpPr/>
          <p:nvPr/>
        </p:nvSpPr>
        <p:spPr>
          <a:xfrm>
            <a:off x="594360" y="932760"/>
            <a:ext cx="3657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400" b="1" u="none" strike="noStrike">
                <a:solidFill>
                  <a:srgbClr val="112435"/>
                </a:solidFill>
                <a:effectLst/>
                <a:uFillTx/>
                <a:latin typeface="Aptos"/>
              </a:rPr>
              <a:t>Por que o sistema é necessário?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Box 9"/>
          <p:cNvSpPr/>
          <p:nvPr/>
        </p:nvSpPr>
        <p:spPr>
          <a:xfrm>
            <a:off x="640080" y="18471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1" u="none" strike="noStrike">
                <a:solidFill>
                  <a:srgbClr val="C41C27"/>
                </a:solidFill>
                <a:effectLst/>
                <a:uFillTx/>
                <a:latin typeface="Aptos"/>
              </a:rPr>
              <a:t>01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1143000" y="1828800"/>
            <a:ext cx="2697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112435"/>
                </a:solidFill>
                <a:effectLst/>
                <a:uFillTx/>
                <a:latin typeface="Aptos"/>
              </a:rPr>
              <a:t>Informações dispersas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Box 11"/>
          <p:cNvSpPr/>
          <p:nvPr/>
        </p:nvSpPr>
        <p:spPr>
          <a:xfrm>
            <a:off x="1143000" y="2157840"/>
            <a:ext cx="2788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Históricos, ordens de serviço e peças eram mantidos em ferramentas separadas.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Rectangle 12"/>
          <p:cNvSpPr/>
          <p:nvPr/>
        </p:nvSpPr>
        <p:spPr>
          <a:xfrm>
            <a:off x="1143000" y="2770560"/>
            <a:ext cx="2742840" cy="8640"/>
          </a:xfrm>
          <a:prstGeom prst="rect">
            <a:avLst/>
          </a:prstGeom>
          <a:solidFill>
            <a:srgbClr val="D8DEE4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8" name="TextBox 13"/>
          <p:cNvSpPr/>
          <p:nvPr/>
        </p:nvSpPr>
        <p:spPr>
          <a:xfrm>
            <a:off x="640080" y="292608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1" u="none" strike="noStrike">
                <a:solidFill>
                  <a:srgbClr val="C41C27"/>
                </a:solidFill>
                <a:effectLst/>
                <a:uFillTx/>
                <a:latin typeface="Aptos"/>
              </a:rPr>
              <a:t>02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14"/>
          <p:cNvSpPr/>
          <p:nvPr/>
        </p:nvSpPr>
        <p:spPr>
          <a:xfrm>
            <a:off x="1143000" y="2907720"/>
            <a:ext cx="2697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112435"/>
                </a:solidFill>
                <a:effectLst/>
                <a:uFillTx/>
                <a:latin typeface="Aptos"/>
              </a:rPr>
              <a:t>Risco operacional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15"/>
          <p:cNvSpPr/>
          <p:nvPr/>
        </p:nvSpPr>
        <p:spPr>
          <a:xfrm>
            <a:off x="1143000" y="3237120"/>
            <a:ext cx="2788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Consultas manuais aumentavam retrabalho, atrasos e possibilidade de erro.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Rectangle 16"/>
          <p:cNvSpPr/>
          <p:nvPr/>
        </p:nvSpPr>
        <p:spPr>
          <a:xfrm>
            <a:off x="1143000" y="3849480"/>
            <a:ext cx="2742840" cy="8640"/>
          </a:xfrm>
          <a:prstGeom prst="rect">
            <a:avLst/>
          </a:prstGeom>
          <a:solidFill>
            <a:srgbClr val="D8DEE4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2" name="TextBox 17"/>
          <p:cNvSpPr/>
          <p:nvPr/>
        </p:nvSpPr>
        <p:spPr>
          <a:xfrm>
            <a:off x="640080" y="400500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1" u="none" strike="noStrike">
                <a:solidFill>
                  <a:srgbClr val="C41C27"/>
                </a:solidFill>
                <a:effectLst/>
                <a:uFillTx/>
                <a:latin typeface="Aptos"/>
              </a:rPr>
              <a:t>03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18"/>
          <p:cNvSpPr/>
          <p:nvPr/>
        </p:nvSpPr>
        <p:spPr>
          <a:xfrm>
            <a:off x="1143000" y="3986640"/>
            <a:ext cx="2697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112435"/>
                </a:solidFill>
                <a:effectLst/>
                <a:uFillTx/>
                <a:latin typeface="Aptos"/>
              </a:rPr>
              <a:t>Baixa rastreabilidade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19"/>
          <p:cNvSpPr/>
          <p:nvPr/>
        </p:nvSpPr>
        <p:spPr>
          <a:xfrm>
            <a:off x="1143000" y="4316040"/>
            <a:ext cx="2788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A entrada da motocicleta carecia de registro estruturado de avarias e acessórios.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20"/>
          <p:cNvSpPr/>
          <p:nvPr/>
        </p:nvSpPr>
        <p:spPr>
          <a:xfrm>
            <a:off x="4343400" y="1134000"/>
            <a:ext cx="7150320" cy="4498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66" name="Picture 21" descr="image.png"/>
          <p:cNvPicPr/>
          <p:nvPr/>
        </p:nvPicPr>
        <p:blipFill>
          <a:blip r:embed="rId1"/>
          <a:stretch/>
        </p:blipFill>
        <p:spPr>
          <a:xfrm>
            <a:off x="5045040" y="1307520"/>
            <a:ext cx="5746680" cy="415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Box 22"/>
          <p:cNvSpPr/>
          <p:nvPr/>
        </p:nvSpPr>
        <p:spPr>
          <a:xfrm>
            <a:off x="4517280" y="5742360"/>
            <a:ext cx="6766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Registro de entrada com checklist, fotos, avarias, acessórios e quilometragem vinculados à OS.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9" name="Rectangle 2"/>
          <p:cNvSpPr/>
          <p:nvPr/>
        </p:nvSpPr>
        <p:spPr>
          <a:xfrm>
            <a:off x="411480" y="128160"/>
            <a:ext cx="50040" cy="310680"/>
          </a:xfrm>
          <a:prstGeom prst="rect">
            <a:avLst/>
          </a:prstGeom>
          <a:solidFill>
            <a:srgbClr val="C41C27"/>
          </a:solidFill>
          <a:ln>
            <a:solidFill>
              <a:srgbClr val="C4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603360" y="9144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112435"/>
                </a:solidFill>
                <a:effectLst/>
                <a:uFillTx/>
                <a:latin typeface="Aptos"/>
              </a:rPr>
              <a:t>Objetivo e escopo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603360" y="365760"/>
            <a:ext cx="7863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Funcionalidades entregues para organizar o atendimento da oficina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5"/>
          <p:cNvSpPr/>
          <p:nvPr/>
        </p:nvSpPr>
        <p:spPr>
          <a:xfrm>
            <a:off x="0" y="649080"/>
            <a:ext cx="12191400" cy="10440"/>
          </a:xfrm>
          <a:prstGeom prst="rect">
            <a:avLst/>
          </a:prstGeom>
          <a:solidFill>
            <a:srgbClr val="D8DEE4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594360" y="9601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200" b="1" u="none" strike="noStrike">
                <a:solidFill>
                  <a:srgbClr val="112435"/>
                </a:solidFill>
                <a:effectLst/>
                <a:uFillTx/>
                <a:latin typeface="Aptos"/>
              </a:rPr>
              <a:t>Objetivo do projeto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7"/>
          <p:cNvSpPr/>
          <p:nvPr/>
        </p:nvSpPr>
        <p:spPr>
          <a:xfrm>
            <a:off x="594360" y="1389960"/>
            <a:ext cx="658080" cy="31680"/>
          </a:xfrm>
          <a:prstGeom prst="rect">
            <a:avLst/>
          </a:prstGeom>
          <a:solidFill>
            <a:srgbClr val="C41C27"/>
          </a:solidFill>
          <a:ln>
            <a:solidFill>
              <a:srgbClr val="C41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594360" y="1645920"/>
            <a:ext cx="3657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Implementar uma solução web para centralizar os principais processos da Garagem 66, melhorar a rastreabilidade dos serviços e ampliar a transparência entre oficina e cliente.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9"/>
          <p:cNvSpPr/>
          <p:nvPr/>
        </p:nvSpPr>
        <p:spPr>
          <a:xfrm>
            <a:off x="594360" y="3017520"/>
            <a:ext cx="3657240" cy="1691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841320" y="324612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rgbClr val="C41C27"/>
                </a:solidFill>
                <a:effectLst/>
                <a:uFillTx/>
                <a:latin typeface="Aptos"/>
              </a:rPr>
              <a:t>Delimitação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1"/>
          <p:cNvSpPr/>
          <p:nvPr/>
        </p:nvSpPr>
        <p:spPr>
          <a:xfrm>
            <a:off x="841320" y="3611880"/>
            <a:ext cx="31269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1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A solução concentra o fluxo operacional da oficina. Recursos financeiros, fiscais, contábeis, folha de pagamento e agendamento não integram o escopo desta entrega.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2"/>
          <p:cNvSpPr/>
          <p:nvPr/>
        </p:nvSpPr>
        <p:spPr>
          <a:xfrm>
            <a:off x="4709160" y="960120"/>
            <a:ext cx="5028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200" b="1" u="none" strike="noStrike">
                <a:solidFill>
                  <a:srgbClr val="112435"/>
                </a:solidFill>
                <a:effectLst/>
                <a:uFillTx/>
                <a:latin typeface="Aptos"/>
              </a:rPr>
              <a:t>Escopo funcional entregue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13"/>
          <p:cNvSpPr/>
          <p:nvPr/>
        </p:nvSpPr>
        <p:spPr>
          <a:xfrm>
            <a:off x="4709160" y="1536120"/>
            <a:ext cx="309024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1" name="TextBox 14"/>
          <p:cNvSpPr/>
          <p:nvPr/>
        </p:nvSpPr>
        <p:spPr>
          <a:xfrm>
            <a:off x="4892040" y="171000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1" u="none" strike="noStrike">
                <a:solidFill>
                  <a:srgbClr val="C41C27"/>
                </a:solidFill>
                <a:effectLst/>
                <a:uFillTx/>
                <a:latin typeface="Aptos"/>
              </a:rPr>
              <a:t>01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5"/>
          <p:cNvSpPr/>
          <p:nvPr/>
        </p:nvSpPr>
        <p:spPr>
          <a:xfrm>
            <a:off x="5303520" y="164592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12435"/>
                </a:solidFill>
                <a:effectLst/>
                <a:uFillTx/>
                <a:latin typeface="Aptos"/>
              </a:rPr>
              <a:t>Clientes e motocicletas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6"/>
          <p:cNvSpPr/>
          <p:nvPr/>
        </p:nvSpPr>
        <p:spPr>
          <a:xfrm>
            <a:off x="5303520" y="187452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Cadastro e vínculo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17"/>
          <p:cNvSpPr/>
          <p:nvPr/>
        </p:nvSpPr>
        <p:spPr>
          <a:xfrm>
            <a:off x="8046720" y="1536120"/>
            <a:ext cx="309024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5" name="TextBox 18"/>
          <p:cNvSpPr/>
          <p:nvPr/>
        </p:nvSpPr>
        <p:spPr>
          <a:xfrm>
            <a:off x="8229600" y="171000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1" u="none" strike="noStrike">
                <a:solidFill>
                  <a:srgbClr val="C41C27"/>
                </a:solidFill>
                <a:effectLst/>
                <a:uFillTx/>
                <a:latin typeface="Aptos"/>
              </a:rPr>
              <a:t>02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9"/>
          <p:cNvSpPr/>
          <p:nvPr/>
        </p:nvSpPr>
        <p:spPr>
          <a:xfrm>
            <a:off x="8641080" y="164592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12435"/>
                </a:solidFill>
                <a:effectLst/>
                <a:uFillTx/>
                <a:latin typeface="Aptos"/>
              </a:rPr>
              <a:t>Entrada da motocicleta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20"/>
          <p:cNvSpPr/>
          <p:nvPr/>
        </p:nvSpPr>
        <p:spPr>
          <a:xfrm>
            <a:off x="8641080" y="187452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Checklist e fotos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21"/>
          <p:cNvSpPr/>
          <p:nvPr/>
        </p:nvSpPr>
        <p:spPr>
          <a:xfrm>
            <a:off x="4709160" y="2304360"/>
            <a:ext cx="309024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9" name="TextBox 22"/>
          <p:cNvSpPr/>
          <p:nvPr/>
        </p:nvSpPr>
        <p:spPr>
          <a:xfrm>
            <a:off x="4892040" y="247788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1" u="none" strike="noStrike">
                <a:solidFill>
                  <a:srgbClr val="C41C27"/>
                </a:solidFill>
                <a:effectLst/>
                <a:uFillTx/>
                <a:latin typeface="Aptos"/>
              </a:rPr>
              <a:t>03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3"/>
          <p:cNvSpPr/>
          <p:nvPr/>
        </p:nvSpPr>
        <p:spPr>
          <a:xfrm>
            <a:off x="5303520" y="241416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12435"/>
                </a:solidFill>
                <a:effectLst/>
                <a:uFillTx/>
                <a:latin typeface="Aptos"/>
              </a:rPr>
              <a:t>Ordens de serviço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4"/>
          <p:cNvSpPr/>
          <p:nvPr/>
        </p:nvSpPr>
        <p:spPr>
          <a:xfrm>
            <a:off x="5303520" y="264276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Acompanhamento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25"/>
          <p:cNvSpPr/>
          <p:nvPr/>
        </p:nvSpPr>
        <p:spPr>
          <a:xfrm>
            <a:off x="8046720" y="2304360"/>
            <a:ext cx="309024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3" name="TextBox 26"/>
          <p:cNvSpPr/>
          <p:nvPr/>
        </p:nvSpPr>
        <p:spPr>
          <a:xfrm>
            <a:off x="8229600" y="247788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1" u="none" strike="noStrike">
                <a:solidFill>
                  <a:srgbClr val="C41C27"/>
                </a:solidFill>
                <a:effectLst/>
                <a:uFillTx/>
                <a:latin typeface="Aptos"/>
              </a:rPr>
              <a:t>04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7"/>
          <p:cNvSpPr/>
          <p:nvPr/>
        </p:nvSpPr>
        <p:spPr>
          <a:xfrm>
            <a:off x="8641080" y="241416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12435"/>
                </a:solidFill>
                <a:effectLst/>
                <a:uFillTx/>
                <a:latin typeface="Aptos"/>
              </a:rPr>
              <a:t>Orçamentos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8"/>
          <p:cNvSpPr/>
          <p:nvPr/>
        </p:nvSpPr>
        <p:spPr>
          <a:xfrm>
            <a:off x="8641080" y="264276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Aprovação ou recusa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29"/>
          <p:cNvSpPr/>
          <p:nvPr/>
        </p:nvSpPr>
        <p:spPr>
          <a:xfrm>
            <a:off x="4709160" y="3072240"/>
            <a:ext cx="309024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7" name="TextBox 30"/>
          <p:cNvSpPr/>
          <p:nvPr/>
        </p:nvSpPr>
        <p:spPr>
          <a:xfrm>
            <a:off x="4892040" y="324612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1" u="none" strike="noStrike">
                <a:solidFill>
                  <a:srgbClr val="C41C27"/>
                </a:solidFill>
                <a:effectLst/>
                <a:uFillTx/>
                <a:latin typeface="Aptos"/>
              </a:rPr>
              <a:t>05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31"/>
          <p:cNvSpPr/>
          <p:nvPr/>
        </p:nvSpPr>
        <p:spPr>
          <a:xfrm>
            <a:off x="5303520" y="318204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12435"/>
                </a:solidFill>
                <a:effectLst/>
                <a:uFillTx/>
                <a:latin typeface="Aptos"/>
              </a:rPr>
              <a:t>Estoque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32"/>
          <p:cNvSpPr/>
          <p:nvPr/>
        </p:nvSpPr>
        <p:spPr>
          <a:xfrm>
            <a:off x="5303520" y="341064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Peças e requisições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33"/>
          <p:cNvSpPr/>
          <p:nvPr/>
        </p:nvSpPr>
        <p:spPr>
          <a:xfrm>
            <a:off x="8046720" y="3072240"/>
            <a:ext cx="3090240" cy="60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1" name="TextBox 34"/>
          <p:cNvSpPr/>
          <p:nvPr/>
        </p:nvSpPr>
        <p:spPr>
          <a:xfrm>
            <a:off x="8229600" y="3246120"/>
            <a:ext cx="310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1" u="none" strike="noStrike">
                <a:solidFill>
                  <a:srgbClr val="C41C27"/>
                </a:solidFill>
                <a:effectLst/>
                <a:uFillTx/>
                <a:latin typeface="Aptos"/>
              </a:rPr>
              <a:t>06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35"/>
          <p:cNvSpPr/>
          <p:nvPr/>
        </p:nvSpPr>
        <p:spPr>
          <a:xfrm>
            <a:off x="8641080" y="318204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12435"/>
                </a:solidFill>
                <a:effectLst/>
                <a:uFillTx/>
                <a:latin typeface="Aptos"/>
              </a:rPr>
              <a:t>Histórico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36"/>
          <p:cNvSpPr/>
          <p:nvPr/>
        </p:nvSpPr>
        <p:spPr>
          <a:xfrm>
            <a:off x="8641080" y="341064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Registros de atendimento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37"/>
          <p:cNvSpPr/>
          <p:nvPr/>
        </p:nvSpPr>
        <p:spPr>
          <a:xfrm>
            <a:off x="4709160" y="4041720"/>
            <a:ext cx="6427800" cy="144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05" name="Picture 38" descr="image.png"/>
          <p:cNvPicPr/>
          <p:nvPr/>
        </p:nvPicPr>
        <p:blipFill>
          <a:blip r:embed="rId1"/>
          <a:stretch/>
        </p:blipFill>
        <p:spPr>
          <a:xfrm>
            <a:off x="4892040" y="4206240"/>
            <a:ext cx="2541600" cy="109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Box 39"/>
          <p:cNvSpPr/>
          <p:nvPr/>
        </p:nvSpPr>
        <p:spPr>
          <a:xfrm>
            <a:off x="7726680" y="4443840"/>
            <a:ext cx="3062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1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O painel consolida os registros operacionais e oferece uma visão objetiva do andamento da oficina.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40"/>
          <p:cNvSpPr/>
          <p:nvPr/>
        </p:nvSpPr>
        <p:spPr>
          <a:xfrm>
            <a:off x="411480" y="6510600"/>
            <a:ext cx="31086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700" b="0" u="none" strike="noStrike">
                <a:solidFill>
                  <a:srgbClr val="4C6077"/>
                </a:solidFill>
                <a:effectLst/>
                <a:uFillTx/>
                <a:latin typeface="Aptos"/>
              </a:rPr>
              <a:t>Garagem 66  •  Projeto de Sistema Web</a:t>
            </a:r>
            <a:endParaRPr lang="pt-BR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41"/>
          <p:cNvSpPr/>
          <p:nvPr/>
        </p:nvSpPr>
        <p:spPr>
          <a:xfrm>
            <a:off x="11539800" y="649224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1" descr="perfis_de_acesso_e_atores_do_sistema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685800" y="146160"/>
            <a:ext cx="7223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8121C"/>
                </a:solidFill>
                <a:effectLst/>
                <a:uFillTx/>
                <a:latin typeface="Aptos Display"/>
                <a:ea typeface="Aptos Display"/>
              </a:rPr>
              <a:t>Fluxo principal de atendimento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685800" y="44820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Do recebimento da moto ao histórico de serviços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0" y="658080"/>
            <a:ext cx="12191400" cy="360"/>
          </a:xfrm>
          <a:prstGeom prst="line">
            <a:avLst/>
          </a:prstGeom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594360" y="914400"/>
            <a:ext cx="5943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419"/>
                </a:solidFill>
                <a:effectLst/>
                <a:uFillTx/>
                <a:latin typeface="Aptos Display"/>
                <a:ea typeface="Aptos Display"/>
              </a:rPr>
              <a:t>Como o atendimento acontece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6"/>
          <p:cNvSpPr/>
          <p:nvPr/>
        </p:nvSpPr>
        <p:spPr>
          <a:xfrm>
            <a:off x="658440" y="2030040"/>
            <a:ext cx="1078560" cy="1078560"/>
          </a:xfrm>
          <a:prstGeom prst="ellipse">
            <a:avLst/>
          </a:prstGeom>
          <a:solidFill>
            <a:srgbClr val="0B1419"/>
          </a:solidFill>
          <a:ln w="12700">
            <a:solidFill>
              <a:srgbClr val="0B14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658440" y="2368440"/>
            <a:ext cx="107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493920" y="33285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Cadastro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9"/>
          <p:cNvSpPr/>
          <p:nvPr/>
        </p:nvSpPr>
        <p:spPr>
          <a:xfrm>
            <a:off x="429840" y="3602880"/>
            <a:ext cx="1535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C6670"/>
                </a:solidFill>
                <a:effectLst/>
                <a:uFillTx/>
                <a:latin typeface="Aptos"/>
              </a:rPr>
              <a:t>Cliente e motocicleta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0"/>
          <p:cNvSpPr/>
          <p:nvPr/>
        </p:nvSpPr>
        <p:spPr>
          <a:xfrm>
            <a:off x="1737360" y="2569320"/>
            <a:ext cx="630720" cy="360"/>
          </a:xfrm>
          <a:prstGeom prst="line">
            <a:avLst/>
          </a:prstGeom>
          <a:ln w="16510">
            <a:solidFill>
              <a:srgbClr val="C8161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0" name="Shape 11"/>
          <p:cNvSpPr/>
          <p:nvPr/>
        </p:nvSpPr>
        <p:spPr>
          <a:xfrm>
            <a:off x="2423160" y="2030040"/>
            <a:ext cx="1078560" cy="1078560"/>
          </a:xfrm>
          <a:prstGeom prst="ellipse">
            <a:avLst/>
          </a:prstGeom>
          <a:solidFill>
            <a:srgbClr val="0B1419"/>
          </a:solidFill>
          <a:ln w="12700">
            <a:solidFill>
              <a:srgbClr val="0B14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2423160" y="2368440"/>
            <a:ext cx="107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2258640" y="33285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Entrada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2194560" y="3602880"/>
            <a:ext cx="1535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C6670"/>
                </a:solidFill>
                <a:effectLst/>
                <a:uFillTx/>
                <a:latin typeface="Aptos"/>
              </a:rPr>
              <a:t>Checklist e fotos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5"/>
          <p:cNvSpPr/>
          <p:nvPr/>
        </p:nvSpPr>
        <p:spPr>
          <a:xfrm>
            <a:off x="3502080" y="2569320"/>
            <a:ext cx="630720" cy="360"/>
          </a:xfrm>
          <a:prstGeom prst="line">
            <a:avLst/>
          </a:prstGeom>
          <a:ln w="16510">
            <a:solidFill>
              <a:srgbClr val="C8161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5" name="Shape 16"/>
          <p:cNvSpPr/>
          <p:nvPr/>
        </p:nvSpPr>
        <p:spPr>
          <a:xfrm>
            <a:off x="4187880" y="2030040"/>
            <a:ext cx="1078560" cy="1078560"/>
          </a:xfrm>
          <a:prstGeom prst="ellipse">
            <a:avLst/>
          </a:prstGeom>
          <a:solidFill>
            <a:srgbClr val="0B1419"/>
          </a:solidFill>
          <a:ln w="12700">
            <a:solidFill>
              <a:srgbClr val="0B14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4187880" y="2368440"/>
            <a:ext cx="107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8"/>
          <p:cNvSpPr/>
          <p:nvPr/>
        </p:nvSpPr>
        <p:spPr>
          <a:xfrm>
            <a:off x="4023360" y="33285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9"/>
          <p:cNvSpPr/>
          <p:nvPr/>
        </p:nvSpPr>
        <p:spPr>
          <a:xfrm>
            <a:off x="3959280" y="3602880"/>
            <a:ext cx="1535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C6670"/>
                </a:solidFill>
                <a:effectLst/>
                <a:uFillTx/>
                <a:latin typeface="Aptos"/>
              </a:rPr>
              <a:t>Abertura e status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0"/>
          <p:cNvSpPr/>
          <p:nvPr/>
        </p:nvSpPr>
        <p:spPr>
          <a:xfrm>
            <a:off x="5266800" y="2569320"/>
            <a:ext cx="667440" cy="360"/>
          </a:xfrm>
          <a:prstGeom prst="line">
            <a:avLst/>
          </a:prstGeom>
          <a:ln w="16510">
            <a:solidFill>
              <a:srgbClr val="C8161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0" name="Shape 21"/>
          <p:cNvSpPr/>
          <p:nvPr/>
        </p:nvSpPr>
        <p:spPr>
          <a:xfrm>
            <a:off x="5989320" y="2030040"/>
            <a:ext cx="1078560" cy="1078560"/>
          </a:xfrm>
          <a:prstGeom prst="ellipse">
            <a:avLst/>
          </a:prstGeom>
          <a:solidFill>
            <a:srgbClr val="C8161D"/>
          </a:solidFill>
          <a:ln w="12700">
            <a:solidFill>
              <a:srgbClr val="C816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1" name="Text 22"/>
          <p:cNvSpPr/>
          <p:nvPr/>
        </p:nvSpPr>
        <p:spPr>
          <a:xfrm>
            <a:off x="5989320" y="2368440"/>
            <a:ext cx="107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3"/>
          <p:cNvSpPr/>
          <p:nvPr/>
        </p:nvSpPr>
        <p:spPr>
          <a:xfrm>
            <a:off x="5824800" y="33285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Rascunho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4"/>
          <p:cNvSpPr/>
          <p:nvPr/>
        </p:nvSpPr>
        <p:spPr>
          <a:xfrm>
            <a:off x="5760720" y="3602880"/>
            <a:ext cx="1535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C6670"/>
                </a:solidFill>
                <a:effectLst/>
                <a:uFillTx/>
                <a:latin typeface="Aptos"/>
              </a:rPr>
              <a:t>Mecânico prepara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5"/>
          <p:cNvSpPr/>
          <p:nvPr/>
        </p:nvSpPr>
        <p:spPr>
          <a:xfrm>
            <a:off x="7068240" y="2569320"/>
            <a:ext cx="722160" cy="360"/>
          </a:xfrm>
          <a:prstGeom prst="line">
            <a:avLst/>
          </a:prstGeom>
          <a:ln w="16510">
            <a:solidFill>
              <a:srgbClr val="C8161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5" name="Shape 26"/>
          <p:cNvSpPr/>
          <p:nvPr/>
        </p:nvSpPr>
        <p:spPr>
          <a:xfrm>
            <a:off x="7845480" y="2030040"/>
            <a:ext cx="1078560" cy="1078560"/>
          </a:xfrm>
          <a:prstGeom prst="ellipse">
            <a:avLst/>
          </a:prstGeom>
          <a:solidFill>
            <a:srgbClr val="0B1419"/>
          </a:solidFill>
          <a:ln w="12700">
            <a:solidFill>
              <a:srgbClr val="0B14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6" name="Text 27"/>
          <p:cNvSpPr/>
          <p:nvPr/>
        </p:nvSpPr>
        <p:spPr>
          <a:xfrm>
            <a:off x="7845480" y="2368440"/>
            <a:ext cx="107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8"/>
          <p:cNvSpPr/>
          <p:nvPr/>
        </p:nvSpPr>
        <p:spPr>
          <a:xfrm>
            <a:off x="7680960" y="33285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Execução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9"/>
          <p:cNvSpPr/>
          <p:nvPr/>
        </p:nvSpPr>
        <p:spPr>
          <a:xfrm>
            <a:off x="7616880" y="3602880"/>
            <a:ext cx="1535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C6670"/>
                </a:solidFill>
                <a:effectLst/>
                <a:uFillTx/>
                <a:latin typeface="Aptos"/>
              </a:rPr>
              <a:t>Serviços e peças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0"/>
          <p:cNvSpPr/>
          <p:nvPr/>
        </p:nvSpPr>
        <p:spPr>
          <a:xfrm>
            <a:off x="8924400" y="2569320"/>
            <a:ext cx="941760" cy="360"/>
          </a:xfrm>
          <a:prstGeom prst="line">
            <a:avLst/>
          </a:prstGeom>
          <a:ln w="16510">
            <a:solidFill>
              <a:srgbClr val="C8161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0" name="Shape 31"/>
          <p:cNvSpPr/>
          <p:nvPr/>
        </p:nvSpPr>
        <p:spPr>
          <a:xfrm>
            <a:off x="9921240" y="2030040"/>
            <a:ext cx="1078560" cy="1078560"/>
          </a:xfrm>
          <a:prstGeom prst="ellipse">
            <a:avLst/>
          </a:prstGeom>
          <a:solidFill>
            <a:srgbClr val="0B1419"/>
          </a:solidFill>
          <a:ln w="12700">
            <a:solidFill>
              <a:srgbClr val="0B14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1" name="Text 32"/>
          <p:cNvSpPr/>
          <p:nvPr/>
        </p:nvSpPr>
        <p:spPr>
          <a:xfrm>
            <a:off x="9921240" y="2368440"/>
            <a:ext cx="1078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3"/>
          <p:cNvSpPr/>
          <p:nvPr/>
        </p:nvSpPr>
        <p:spPr>
          <a:xfrm>
            <a:off x="9756720" y="33285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Histórico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4"/>
          <p:cNvSpPr/>
          <p:nvPr/>
        </p:nvSpPr>
        <p:spPr>
          <a:xfrm>
            <a:off x="9692640" y="3602880"/>
            <a:ext cx="1535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C6670"/>
                </a:solidFill>
                <a:effectLst/>
                <a:uFillTx/>
                <a:latin typeface="Aptos"/>
              </a:rPr>
              <a:t>Consulta futura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5"/>
          <p:cNvSpPr/>
          <p:nvPr/>
        </p:nvSpPr>
        <p:spPr>
          <a:xfrm>
            <a:off x="1828800" y="4754880"/>
            <a:ext cx="8412120" cy="914040"/>
          </a:xfrm>
          <a:prstGeom prst="roundRect">
            <a:avLst>
              <a:gd name="adj" fmla="val 9524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5" name="Text 36"/>
          <p:cNvSpPr/>
          <p:nvPr/>
        </p:nvSpPr>
        <p:spPr>
          <a:xfrm>
            <a:off x="2057400" y="49834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A121C"/>
                </a:solidFill>
                <a:effectLst/>
                <a:uFillTx/>
                <a:latin typeface="Aptos"/>
              </a:rPr>
              <a:t>Regra crítica do fluxo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7"/>
          <p:cNvSpPr/>
          <p:nvPr/>
        </p:nvSpPr>
        <p:spPr>
          <a:xfrm>
            <a:off x="3749040" y="504756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8121C"/>
                </a:solidFill>
                <a:effectLst/>
                <a:uFillTx/>
                <a:latin typeface="Aptos"/>
              </a:rPr>
              <a:t>O Mecânico prepara o rascunho, o Administrador revisa e publica, e somente então o Cliente aprova ou recusa.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8"/>
          <p:cNvSpPr/>
          <p:nvPr/>
        </p:nvSpPr>
        <p:spPr>
          <a:xfrm>
            <a:off x="411480" y="6565320"/>
            <a:ext cx="39315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75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Garagem 66 • Projeto de Sistema Web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9"/>
          <p:cNvSpPr/>
          <p:nvPr/>
        </p:nvSpPr>
        <p:spPr>
          <a:xfrm>
            <a:off x="11567160" y="6546960"/>
            <a:ext cx="200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43"/>
          <p:cNvSpPr/>
          <p:nvPr/>
        </p:nvSpPr>
        <p:spPr>
          <a:xfrm>
            <a:off x="411480" y="118800"/>
            <a:ext cx="54360" cy="328680"/>
          </a:xfrm>
          <a:prstGeom prst="rect">
            <a:avLst/>
          </a:prstGeom>
          <a:solidFill>
            <a:srgbClr val="DA121C"/>
          </a:solidFill>
          <a:ln>
            <a:solidFill>
              <a:srgbClr val="DA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685800" y="146160"/>
            <a:ext cx="7223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8121C"/>
                </a:solidFill>
                <a:effectLst/>
                <a:uFillTx/>
                <a:latin typeface="Aptos Display"/>
                <a:ea typeface="Aptos Display"/>
              </a:rPr>
              <a:t>Arquitetura tecnológica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"/>
          <p:cNvSpPr/>
          <p:nvPr/>
        </p:nvSpPr>
        <p:spPr>
          <a:xfrm>
            <a:off x="685800" y="44820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Separação entre interface, regras de negócio e armazenamento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3"/>
          <p:cNvSpPr/>
          <p:nvPr/>
        </p:nvSpPr>
        <p:spPr>
          <a:xfrm>
            <a:off x="0" y="658080"/>
            <a:ext cx="12191400" cy="360"/>
          </a:xfrm>
          <a:prstGeom prst="line">
            <a:avLst/>
          </a:prstGeom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594360" y="960120"/>
            <a:ext cx="5668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419"/>
                </a:solidFill>
                <a:effectLst/>
                <a:uFillTx/>
                <a:latin typeface="Aptos Display"/>
                <a:ea typeface="Aptos Display"/>
              </a:rPr>
              <a:t>Três camadas principais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5"/>
          <p:cNvSpPr/>
          <p:nvPr/>
        </p:nvSpPr>
        <p:spPr>
          <a:xfrm>
            <a:off x="594360" y="1527120"/>
            <a:ext cx="658080" cy="63720"/>
          </a:xfrm>
          <a:prstGeom prst="rect">
            <a:avLst/>
          </a:prstGeom>
          <a:solidFill>
            <a:srgbClr val="C8161D"/>
          </a:solidFill>
          <a:ln w="12700">
            <a:solidFill>
              <a:srgbClr val="C816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6" name="Shape 6"/>
          <p:cNvSpPr/>
          <p:nvPr/>
        </p:nvSpPr>
        <p:spPr>
          <a:xfrm>
            <a:off x="822960" y="1965960"/>
            <a:ext cx="3062880" cy="233136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7" name="Shape 7"/>
          <p:cNvSpPr/>
          <p:nvPr/>
        </p:nvSpPr>
        <p:spPr>
          <a:xfrm>
            <a:off x="822960" y="1965960"/>
            <a:ext cx="3062880" cy="145800"/>
          </a:xfrm>
          <a:prstGeom prst="rect">
            <a:avLst/>
          </a:prstGeom>
          <a:solidFill>
            <a:srgbClr val="C8161D"/>
          </a:solidFill>
          <a:ln w="12700">
            <a:solidFill>
              <a:srgbClr val="C816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8" name="Text 8"/>
          <p:cNvSpPr/>
          <p:nvPr/>
        </p:nvSpPr>
        <p:spPr>
          <a:xfrm>
            <a:off x="1042560" y="23043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Interface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9"/>
          <p:cNvSpPr/>
          <p:nvPr/>
        </p:nvSpPr>
        <p:spPr>
          <a:xfrm>
            <a:off x="1042560" y="274320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C8161D"/>
                </a:solidFill>
                <a:effectLst/>
                <a:uFillTx/>
                <a:latin typeface="Aptos"/>
              </a:rPr>
              <a:t>React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1042560" y="3364920"/>
            <a:ext cx="2559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6670"/>
                </a:solidFill>
                <a:effectLst/>
                <a:uFillTx/>
                <a:latin typeface="Aptos"/>
              </a:rPr>
              <a:t>Telas modernas, responsivas e interativas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1"/>
          <p:cNvSpPr/>
          <p:nvPr/>
        </p:nvSpPr>
        <p:spPr>
          <a:xfrm>
            <a:off x="4526280" y="1965960"/>
            <a:ext cx="3062880" cy="233136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2" name="Shape 12"/>
          <p:cNvSpPr/>
          <p:nvPr/>
        </p:nvSpPr>
        <p:spPr>
          <a:xfrm>
            <a:off x="4526280" y="1965960"/>
            <a:ext cx="3062880" cy="14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3" name="Text 13"/>
          <p:cNvSpPr/>
          <p:nvPr/>
        </p:nvSpPr>
        <p:spPr>
          <a:xfrm>
            <a:off x="4745880" y="23043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Regras de negócio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4"/>
          <p:cNvSpPr/>
          <p:nvPr/>
        </p:nvSpPr>
        <p:spPr>
          <a:xfrm>
            <a:off x="4745880" y="274320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Python + Django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5"/>
          <p:cNvSpPr/>
          <p:nvPr/>
        </p:nvSpPr>
        <p:spPr>
          <a:xfrm>
            <a:off x="4745880" y="3364920"/>
            <a:ext cx="2559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6670"/>
                </a:solidFill>
                <a:effectLst/>
                <a:uFillTx/>
                <a:latin typeface="Aptos"/>
              </a:rPr>
              <a:t>Autenticação, fluxos, OS e orçamentos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6"/>
          <p:cNvSpPr/>
          <p:nvPr/>
        </p:nvSpPr>
        <p:spPr>
          <a:xfrm>
            <a:off x="8229600" y="1965960"/>
            <a:ext cx="3062880" cy="233136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7" name="Shape 17"/>
          <p:cNvSpPr/>
          <p:nvPr/>
        </p:nvSpPr>
        <p:spPr>
          <a:xfrm>
            <a:off x="8229600" y="1965960"/>
            <a:ext cx="3062880" cy="145800"/>
          </a:xfrm>
          <a:prstGeom prst="rect">
            <a:avLst/>
          </a:prstGeom>
          <a:solidFill>
            <a:srgbClr val="2BA84A"/>
          </a:solidFill>
          <a:ln w="12700">
            <a:solidFill>
              <a:srgbClr val="2BA8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8" name="Text 18"/>
          <p:cNvSpPr/>
          <p:nvPr/>
        </p:nvSpPr>
        <p:spPr>
          <a:xfrm>
            <a:off x="8449200" y="23043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Banco de dados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9"/>
          <p:cNvSpPr/>
          <p:nvPr/>
        </p:nvSpPr>
        <p:spPr>
          <a:xfrm>
            <a:off x="8449200" y="2743200"/>
            <a:ext cx="2559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BA84A"/>
                </a:solidFill>
                <a:effectLst/>
                <a:uFillTx/>
                <a:latin typeface="Aptos"/>
              </a:rPr>
              <a:t>PostgreSQL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0"/>
          <p:cNvSpPr/>
          <p:nvPr/>
        </p:nvSpPr>
        <p:spPr>
          <a:xfrm>
            <a:off x="8449200" y="3364920"/>
            <a:ext cx="25599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C6670"/>
                </a:solidFill>
                <a:effectLst/>
                <a:uFillTx/>
                <a:latin typeface="Aptos"/>
              </a:rPr>
              <a:t>Clientes, motos, estoque, fotos e histórico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1"/>
          <p:cNvSpPr/>
          <p:nvPr/>
        </p:nvSpPr>
        <p:spPr>
          <a:xfrm>
            <a:off x="3977640" y="3126960"/>
            <a:ext cx="438840" cy="360"/>
          </a:xfrm>
          <a:prstGeom prst="line">
            <a:avLst/>
          </a:prstGeom>
          <a:ln w="16510">
            <a:solidFill>
              <a:srgbClr val="C8161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2" name="Shape 22"/>
          <p:cNvSpPr/>
          <p:nvPr/>
        </p:nvSpPr>
        <p:spPr>
          <a:xfrm>
            <a:off x="7680960" y="3126960"/>
            <a:ext cx="438840" cy="360"/>
          </a:xfrm>
          <a:prstGeom prst="line">
            <a:avLst/>
          </a:prstGeom>
          <a:ln w="16510">
            <a:solidFill>
              <a:srgbClr val="C8161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3" name="Shape 23"/>
          <p:cNvSpPr/>
          <p:nvPr/>
        </p:nvSpPr>
        <p:spPr>
          <a:xfrm>
            <a:off x="2560320" y="5230440"/>
            <a:ext cx="7040520" cy="658080"/>
          </a:xfrm>
          <a:prstGeom prst="roundRect">
            <a:avLst>
              <a:gd name="adj" fmla="val 16667"/>
            </a:avLst>
          </a:prstGeom>
          <a:solidFill>
            <a:srgbClr val="0B1419"/>
          </a:solidFill>
          <a:ln w="12700">
            <a:solidFill>
              <a:srgbClr val="0B14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4" name="Text 24"/>
          <p:cNvSpPr/>
          <p:nvPr/>
        </p:nvSpPr>
        <p:spPr>
          <a:xfrm>
            <a:off x="2788920" y="5459040"/>
            <a:ext cx="6583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Git como apoio ao versionamento do código-fonte e evolução do projeto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5"/>
          <p:cNvSpPr/>
          <p:nvPr/>
        </p:nvSpPr>
        <p:spPr>
          <a:xfrm>
            <a:off x="411480" y="6565320"/>
            <a:ext cx="39315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75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Garagem 66 • Projeto de Sistema Web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6"/>
          <p:cNvSpPr/>
          <p:nvPr/>
        </p:nvSpPr>
        <p:spPr>
          <a:xfrm>
            <a:off x="11567160" y="6546960"/>
            <a:ext cx="200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29"/>
          <p:cNvSpPr/>
          <p:nvPr/>
        </p:nvSpPr>
        <p:spPr>
          <a:xfrm>
            <a:off x="411480" y="118800"/>
            <a:ext cx="54360" cy="328680"/>
          </a:xfrm>
          <a:prstGeom prst="rect">
            <a:avLst/>
          </a:prstGeom>
          <a:solidFill>
            <a:srgbClr val="DA121C"/>
          </a:solidFill>
          <a:ln>
            <a:solidFill>
              <a:srgbClr val="DA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5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80" name="Rectangle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81" name="Rectangle 3"/>
          <p:cNvSpPr/>
          <p:nvPr/>
        </p:nvSpPr>
        <p:spPr>
          <a:xfrm>
            <a:off x="411480" y="118800"/>
            <a:ext cx="54360" cy="32868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82" name="TextBox 4"/>
          <p:cNvSpPr/>
          <p:nvPr/>
        </p:nvSpPr>
        <p:spPr>
          <a:xfrm>
            <a:off x="658440" y="91440"/>
            <a:ext cx="5303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pt-BR" sz="2400" b="1" u="none" strike="noStrike">
                <a:solidFill>
                  <a:srgbClr val="061B31"/>
                </a:solidFill>
                <a:effectLst/>
                <a:uFillTx/>
                <a:latin typeface="Aptos"/>
              </a:rPr>
              <a:t>Modelagem UML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5"/>
          <p:cNvSpPr/>
          <p:nvPr/>
        </p:nvSpPr>
        <p:spPr>
          <a:xfrm>
            <a:off x="658440" y="384120"/>
            <a:ext cx="6217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pt-BR" sz="1150" b="0" u="none" strike="noStrike">
                <a:solidFill>
                  <a:srgbClr val="5A6C84"/>
                </a:solidFill>
                <a:effectLst/>
                <a:uFillTx/>
                <a:latin typeface="Aptos"/>
              </a:rPr>
              <a:t>A documentação visual orientou e validou o sistema durante a implementação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6"/>
          <p:cNvSpPr/>
          <p:nvPr/>
        </p:nvSpPr>
        <p:spPr>
          <a:xfrm>
            <a:off x="0" y="658440"/>
            <a:ext cx="12191400" cy="8640"/>
          </a:xfrm>
          <a:prstGeom prst="rect">
            <a:avLst/>
          </a:prstGeom>
          <a:solidFill>
            <a:srgbClr val="E4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85" name="TextBox 7"/>
          <p:cNvSpPr/>
          <p:nvPr/>
        </p:nvSpPr>
        <p:spPr>
          <a:xfrm>
            <a:off x="411480" y="6400800"/>
            <a:ext cx="29257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0" u="none" strike="noStrike">
                <a:solidFill>
                  <a:srgbClr val="5A6C84"/>
                </a:solidFill>
                <a:effectLst/>
                <a:uFillTx/>
                <a:latin typeface="Aptos"/>
              </a:rPr>
              <a:t>Garagem 66 • Projeto de Sistema Web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8"/>
          <p:cNvSpPr/>
          <p:nvPr/>
        </p:nvSpPr>
        <p:spPr>
          <a:xfrm>
            <a:off x="11558160" y="6382440"/>
            <a:ext cx="182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9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9"/>
          <p:cNvSpPr/>
          <p:nvPr/>
        </p:nvSpPr>
        <p:spPr>
          <a:xfrm>
            <a:off x="502920" y="868680"/>
            <a:ext cx="5668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pt-BR" sz="3200" b="1" u="none" strike="noStrike">
                <a:solidFill>
                  <a:srgbClr val="061B31"/>
                </a:solidFill>
                <a:effectLst/>
                <a:uFillTx/>
                <a:latin typeface="Aptos"/>
              </a:rPr>
              <a:t>Atividades e sequência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10"/>
          <p:cNvSpPr/>
          <p:nvPr/>
        </p:nvSpPr>
        <p:spPr>
          <a:xfrm>
            <a:off x="502920" y="1408320"/>
            <a:ext cx="685440" cy="54360"/>
          </a:xfrm>
          <a:prstGeom prst="rect">
            <a:avLst/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89" name="TextBox 11"/>
          <p:cNvSpPr/>
          <p:nvPr/>
        </p:nvSpPr>
        <p:spPr>
          <a:xfrm>
            <a:off x="502920" y="1463040"/>
            <a:ext cx="53031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lang="pt-BR" sz="1700" b="0" u="none" strike="noStrike">
                <a:solidFill>
                  <a:srgbClr val="4A5F79"/>
                </a:solidFill>
                <a:effectLst/>
                <a:uFillTx/>
                <a:latin typeface="Aptos"/>
              </a:rPr>
              <a:t>Diagramas que mostram o fluxo operacional e a comunicação entre os componentes.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12"/>
          <p:cNvSpPr/>
          <p:nvPr/>
        </p:nvSpPr>
        <p:spPr>
          <a:xfrm>
            <a:off x="548640" y="2011680"/>
            <a:ext cx="5074560" cy="385848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12700">
            <a:solidFill>
              <a:srgbClr val="D9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91" name="TextBox 14"/>
          <p:cNvSpPr/>
          <p:nvPr/>
        </p:nvSpPr>
        <p:spPr>
          <a:xfrm>
            <a:off x="548640" y="5486400"/>
            <a:ext cx="5074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061B31"/>
                </a:solidFill>
                <a:effectLst/>
                <a:uFillTx/>
                <a:latin typeface="Aptos"/>
              </a:rPr>
              <a:t>Atividades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15"/>
          <p:cNvSpPr/>
          <p:nvPr/>
        </p:nvSpPr>
        <p:spPr>
          <a:xfrm>
            <a:off x="6355080" y="2011680"/>
            <a:ext cx="5074560" cy="385848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12700">
            <a:solidFill>
              <a:srgbClr val="D9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93" name="Picture 16" descr="Diagrama_Sequencia_Garagem66.png"/>
          <p:cNvPicPr/>
          <p:nvPr/>
        </p:nvPicPr>
        <p:blipFill>
          <a:blip r:embed="rId1"/>
          <a:stretch/>
        </p:blipFill>
        <p:spPr>
          <a:xfrm>
            <a:off x="6483240" y="2139840"/>
            <a:ext cx="4818600" cy="269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Box 17"/>
          <p:cNvSpPr/>
          <p:nvPr/>
        </p:nvSpPr>
        <p:spPr>
          <a:xfrm>
            <a:off x="6355080" y="5486400"/>
            <a:ext cx="5074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061B31"/>
                </a:solidFill>
                <a:effectLst/>
                <a:uFillTx/>
                <a:latin typeface="Aptos"/>
              </a:rPr>
              <a:t>Sequência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18"/>
          <p:cNvSpPr/>
          <p:nvPr/>
        </p:nvSpPr>
        <p:spPr>
          <a:xfrm>
            <a:off x="868680" y="5870520"/>
            <a:ext cx="10423800" cy="383760"/>
          </a:xfrm>
          <a:prstGeom prst="roundRect">
            <a:avLst>
              <a:gd name="adj" fmla="val 12000"/>
            </a:avLst>
          </a:prstGeom>
          <a:solidFill>
            <a:srgbClr val="C8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96" name="TextBox 19"/>
          <p:cNvSpPr/>
          <p:nvPr/>
        </p:nvSpPr>
        <p:spPr>
          <a:xfrm>
            <a:off x="960120" y="5897880"/>
            <a:ext cx="10240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Fluxos de OS, orçamento, requisição de peças e histórico são representados nesses diagramas.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" name="Picture 20" descr="Diagrama_Atividades_Garagem66_CORRIGIDO.png"/>
          <p:cNvPicPr/>
          <p:nvPr/>
        </p:nvPicPr>
        <p:blipFill>
          <a:blip r:embed="rId2"/>
          <a:stretch/>
        </p:blipFill>
        <p:spPr>
          <a:xfrm>
            <a:off x="943920" y="2139840"/>
            <a:ext cx="4283640" cy="3221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0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685800" y="146160"/>
            <a:ext cx="7223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8121C"/>
                </a:solidFill>
                <a:effectLst/>
                <a:uFillTx/>
                <a:latin typeface="Aptos Display"/>
                <a:ea typeface="Aptos Display"/>
              </a:rPr>
              <a:t>Prototipação I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"/>
          <p:cNvSpPr/>
          <p:nvPr/>
        </p:nvSpPr>
        <p:spPr>
          <a:xfrm>
            <a:off x="685800" y="44820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Acesso, visão geral e cadastro administrativo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"/>
          <p:cNvSpPr/>
          <p:nvPr/>
        </p:nvSpPr>
        <p:spPr>
          <a:xfrm>
            <a:off x="0" y="658080"/>
            <a:ext cx="12191400" cy="360"/>
          </a:xfrm>
          <a:prstGeom prst="line">
            <a:avLst/>
          </a:prstGeom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2" name="Text 4"/>
          <p:cNvSpPr/>
          <p:nvPr/>
        </p:nvSpPr>
        <p:spPr>
          <a:xfrm>
            <a:off x="594360" y="914400"/>
            <a:ext cx="5486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419"/>
                </a:solidFill>
                <a:effectLst/>
                <a:uFillTx/>
                <a:latin typeface="Aptos Display"/>
                <a:ea typeface="Aptos Display"/>
              </a:rPr>
              <a:t>Primeiras telas do sistema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5"/>
          <p:cNvSpPr/>
          <p:nvPr/>
        </p:nvSpPr>
        <p:spPr>
          <a:xfrm>
            <a:off x="594360" y="1481400"/>
            <a:ext cx="658080" cy="63720"/>
          </a:xfrm>
          <a:prstGeom prst="rect">
            <a:avLst/>
          </a:prstGeom>
          <a:solidFill>
            <a:srgbClr val="C8161D"/>
          </a:solidFill>
          <a:ln w="12700">
            <a:solidFill>
              <a:srgbClr val="C816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4" name="Text 6"/>
          <p:cNvSpPr/>
          <p:nvPr/>
        </p:nvSpPr>
        <p:spPr>
          <a:xfrm>
            <a:off x="621720" y="155448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C6670"/>
                </a:solidFill>
                <a:effectLst/>
                <a:uFillTx/>
                <a:latin typeface="Aptos"/>
              </a:rPr>
              <a:t>A interface busca ser simples, responsiva e direcionada aos perfis de uso.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Image 1" descr="/mnt/data/docx_media/image5.png"/>
          <p:cNvPicPr/>
          <p:nvPr/>
        </p:nvPicPr>
        <p:blipFill>
          <a:blip r:embed="rId1"/>
          <a:stretch/>
        </p:blipFill>
        <p:spPr>
          <a:xfrm>
            <a:off x="840600" y="2176200"/>
            <a:ext cx="3027600" cy="242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Shape 7"/>
          <p:cNvSpPr/>
          <p:nvPr/>
        </p:nvSpPr>
        <p:spPr>
          <a:xfrm>
            <a:off x="804600" y="4745880"/>
            <a:ext cx="3099600" cy="310680"/>
          </a:xfrm>
          <a:prstGeom prst="roundRect">
            <a:avLst>
              <a:gd name="adj" fmla="val 23529"/>
            </a:avLst>
          </a:prstGeom>
          <a:solidFill>
            <a:srgbClr val="C8161D">
              <a:alpha val="94000"/>
            </a:srgbClr>
          </a:solidFill>
          <a:ln w="12700">
            <a:solidFill>
              <a:srgbClr val="C816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7" name="Text 8"/>
          <p:cNvSpPr/>
          <p:nvPr/>
        </p:nvSpPr>
        <p:spPr>
          <a:xfrm>
            <a:off x="804600" y="4814280"/>
            <a:ext cx="3099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Login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Image 2" descr="/mnt/data/docx_media/image6.png"/>
          <p:cNvPicPr/>
          <p:nvPr/>
        </p:nvPicPr>
        <p:blipFill>
          <a:blip r:embed="rId2"/>
          <a:stretch/>
        </p:blipFill>
        <p:spPr>
          <a:xfrm>
            <a:off x="4389120" y="2244960"/>
            <a:ext cx="342864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Shape 9"/>
          <p:cNvSpPr/>
          <p:nvPr/>
        </p:nvSpPr>
        <p:spPr>
          <a:xfrm>
            <a:off x="4553640" y="4745880"/>
            <a:ext cx="3099600" cy="310680"/>
          </a:xfrm>
          <a:prstGeom prst="roundRect">
            <a:avLst>
              <a:gd name="adj" fmla="val 23529"/>
            </a:avLst>
          </a:prstGeom>
          <a:solidFill>
            <a:srgbClr val="C8161D">
              <a:alpha val="94000"/>
            </a:srgbClr>
          </a:solidFill>
          <a:ln w="12700">
            <a:solidFill>
              <a:srgbClr val="C816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0" name="Text 10"/>
          <p:cNvSpPr/>
          <p:nvPr/>
        </p:nvSpPr>
        <p:spPr>
          <a:xfrm>
            <a:off x="4553640" y="4814280"/>
            <a:ext cx="3099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Dashboard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Image 3" descr="/mnt/data/docx_media/image7.png"/>
          <p:cNvPicPr/>
          <p:nvPr/>
        </p:nvPicPr>
        <p:blipFill>
          <a:blip r:embed="rId3"/>
          <a:stretch/>
        </p:blipFill>
        <p:spPr>
          <a:xfrm>
            <a:off x="8138160" y="2294640"/>
            <a:ext cx="3428640" cy="218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Shape 11"/>
          <p:cNvSpPr/>
          <p:nvPr/>
        </p:nvSpPr>
        <p:spPr>
          <a:xfrm>
            <a:off x="8302680" y="4745880"/>
            <a:ext cx="3099600" cy="310680"/>
          </a:xfrm>
          <a:prstGeom prst="roundRect">
            <a:avLst>
              <a:gd name="adj" fmla="val 23529"/>
            </a:avLst>
          </a:prstGeom>
          <a:solidFill>
            <a:srgbClr val="C8161D">
              <a:alpha val="94000"/>
            </a:srgbClr>
          </a:solidFill>
          <a:ln w="12700">
            <a:solidFill>
              <a:srgbClr val="C816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8302680" y="4814280"/>
            <a:ext cx="30996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Clientes e motocicletas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5"/>
          <p:cNvSpPr/>
          <p:nvPr/>
        </p:nvSpPr>
        <p:spPr>
          <a:xfrm>
            <a:off x="411480" y="6565320"/>
            <a:ext cx="39315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75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Garagem 66 • Projeto de Sistema Web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6"/>
          <p:cNvSpPr/>
          <p:nvPr/>
        </p:nvSpPr>
        <p:spPr>
          <a:xfrm>
            <a:off x="11567160" y="6546960"/>
            <a:ext cx="200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10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ounded Rectangle 23"/>
          <p:cNvSpPr/>
          <p:nvPr/>
        </p:nvSpPr>
        <p:spPr>
          <a:xfrm>
            <a:off x="621720" y="5239440"/>
            <a:ext cx="312696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17" name="TextBox 24"/>
          <p:cNvSpPr/>
          <p:nvPr/>
        </p:nvSpPr>
        <p:spPr>
          <a:xfrm>
            <a:off x="749880" y="5312520"/>
            <a:ext cx="2871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400" b="1" u="none" strike="noStrike">
                <a:solidFill>
                  <a:srgbClr val="08121C"/>
                </a:solidFill>
                <a:effectLst/>
                <a:uFillTx/>
                <a:latin typeface="Aptos"/>
              </a:rPr>
              <a:t>Acesso do cliente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25"/>
          <p:cNvSpPr/>
          <p:nvPr/>
        </p:nvSpPr>
        <p:spPr>
          <a:xfrm>
            <a:off x="768240" y="5541120"/>
            <a:ext cx="287100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• Cliente usa CPF como identificador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• Senha inicial baseada na data de nascimento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• Cadastro realizado pela oficina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ounded Rectangle 26"/>
          <p:cNvSpPr/>
          <p:nvPr/>
        </p:nvSpPr>
        <p:spPr>
          <a:xfrm>
            <a:off x="4114800" y="5239440"/>
            <a:ext cx="312696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20" name="TextBox 27"/>
          <p:cNvSpPr/>
          <p:nvPr/>
        </p:nvSpPr>
        <p:spPr>
          <a:xfrm>
            <a:off x="4242960" y="5312520"/>
            <a:ext cx="2871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400" b="1" u="none" strike="noStrike">
                <a:solidFill>
                  <a:srgbClr val="08121C"/>
                </a:solidFill>
                <a:effectLst/>
                <a:uFillTx/>
                <a:latin typeface="Aptos"/>
              </a:rPr>
              <a:t>Visão geral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28"/>
          <p:cNvSpPr/>
          <p:nvPr/>
        </p:nvSpPr>
        <p:spPr>
          <a:xfrm>
            <a:off x="4260960" y="5541120"/>
            <a:ext cx="287100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• Resume OS, orçamentos, estoque e requisições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• Exibe os principais indicadores da oficina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29"/>
          <p:cNvSpPr/>
          <p:nvPr/>
        </p:nvSpPr>
        <p:spPr>
          <a:xfrm>
            <a:off x="7607880" y="5239440"/>
            <a:ext cx="312696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23" name="TextBox 30"/>
          <p:cNvSpPr/>
          <p:nvPr/>
        </p:nvSpPr>
        <p:spPr>
          <a:xfrm>
            <a:off x="7735680" y="5312520"/>
            <a:ext cx="2871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400" b="1" u="none" strike="noStrike">
                <a:solidFill>
                  <a:srgbClr val="08121C"/>
                </a:solidFill>
                <a:effectLst/>
                <a:uFillTx/>
                <a:latin typeface="Aptos"/>
              </a:rPr>
              <a:t>Cadastro administrativo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31"/>
          <p:cNvSpPr/>
          <p:nvPr/>
        </p:nvSpPr>
        <p:spPr>
          <a:xfrm>
            <a:off x="7754040" y="5541120"/>
            <a:ext cx="287100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• Pesquisa clientes por nome ou CPF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• Consulta as motocicletas vinculadas a cada cadastro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32"/>
          <p:cNvSpPr/>
          <p:nvPr/>
        </p:nvSpPr>
        <p:spPr>
          <a:xfrm>
            <a:off x="411480" y="118800"/>
            <a:ext cx="54360" cy="328680"/>
          </a:xfrm>
          <a:prstGeom prst="rect">
            <a:avLst/>
          </a:prstGeom>
          <a:solidFill>
            <a:srgbClr val="DA121C"/>
          </a:solidFill>
          <a:ln>
            <a:solidFill>
              <a:srgbClr val="DA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Picture 1" descr="fluxo_da_prototipação_à_decisão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0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8" name="Text 1"/>
          <p:cNvSpPr/>
          <p:nvPr/>
        </p:nvSpPr>
        <p:spPr>
          <a:xfrm>
            <a:off x="685800" y="146160"/>
            <a:ext cx="7223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8121C"/>
                </a:solidFill>
                <a:effectLst/>
                <a:uFillTx/>
                <a:latin typeface="Aptos Display"/>
                <a:ea typeface="Aptos Display"/>
              </a:rPr>
              <a:t>Prototipação III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"/>
          <p:cNvSpPr/>
          <p:nvPr/>
        </p:nvSpPr>
        <p:spPr>
          <a:xfrm>
            <a:off x="685800" y="44820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Peças, estoque, requisições e histórico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3"/>
          <p:cNvSpPr/>
          <p:nvPr/>
        </p:nvSpPr>
        <p:spPr>
          <a:xfrm>
            <a:off x="0" y="658080"/>
            <a:ext cx="12191400" cy="360"/>
          </a:xfrm>
          <a:prstGeom prst="line">
            <a:avLst/>
          </a:prstGeom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1" name="Text 4"/>
          <p:cNvSpPr/>
          <p:nvPr/>
        </p:nvSpPr>
        <p:spPr>
          <a:xfrm>
            <a:off x="594360" y="914400"/>
            <a:ext cx="53031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419"/>
                </a:solidFill>
                <a:effectLst/>
                <a:uFillTx/>
                <a:latin typeface="Aptos Display"/>
                <a:ea typeface="Aptos Display"/>
              </a:rPr>
              <a:t>Controle e rastreabilidade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5"/>
          <p:cNvSpPr/>
          <p:nvPr/>
        </p:nvSpPr>
        <p:spPr>
          <a:xfrm>
            <a:off x="594360" y="1481400"/>
            <a:ext cx="658080" cy="63720"/>
          </a:xfrm>
          <a:prstGeom prst="rect">
            <a:avLst/>
          </a:prstGeom>
          <a:solidFill>
            <a:srgbClr val="C8161D"/>
          </a:solidFill>
          <a:ln w="12700">
            <a:solidFill>
              <a:srgbClr val="C816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3" name="Text 6"/>
          <p:cNvSpPr/>
          <p:nvPr/>
        </p:nvSpPr>
        <p:spPr>
          <a:xfrm>
            <a:off x="621720" y="155448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As telas de apoio reduzem perdas de informação e ajudam a acompanhar a execução dos serviços.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" name="Image 1" descr="/mnt/data/docx_media/image11.png"/>
          <p:cNvPicPr/>
          <p:nvPr/>
        </p:nvPicPr>
        <p:blipFill>
          <a:blip r:embed="rId1"/>
          <a:stretch/>
        </p:blipFill>
        <p:spPr>
          <a:xfrm>
            <a:off x="691920" y="2148840"/>
            <a:ext cx="3315960" cy="248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" name="Image 2" descr="/mnt/data/docx_media/image12.png"/>
          <p:cNvPicPr/>
          <p:nvPr/>
        </p:nvPicPr>
        <p:blipFill>
          <a:blip r:embed="rId2"/>
          <a:stretch/>
        </p:blipFill>
        <p:spPr>
          <a:xfrm>
            <a:off x="4422600" y="2148840"/>
            <a:ext cx="3315960" cy="248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6" name="Image 3" descr="/mnt/data/docx_media/image13.png"/>
          <p:cNvPicPr/>
          <p:nvPr/>
        </p:nvPicPr>
        <p:blipFill>
          <a:blip r:embed="rId3"/>
          <a:stretch/>
        </p:blipFill>
        <p:spPr>
          <a:xfrm>
            <a:off x="8138160" y="2264040"/>
            <a:ext cx="3382920" cy="22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" name="Shape 7"/>
          <p:cNvSpPr/>
          <p:nvPr/>
        </p:nvSpPr>
        <p:spPr>
          <a:xfrm>
            <a:off x="868680" y="4827960"/>
            <a:ext cx="2971440" cy="310680"/>
          </a:xfrm>
          <a:prstGeom prst="roundRect">
            <a:avLst>
              <a:gd name="adj" fmla="val 23529"/>
            </a:avLst>
          </a:prstGeom>
          <a:solidFill>
            <a:srgbClr val="C8161D">
              <a:alpha val="94000"/>
            </a:srgbClr>
          </a:solidFill>
          <a:ln w="12700">
            <a:solidFill>
              <a:srgbClr val="C816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8" name="Text 8"/>
          <p:cNvSpPr/>
          <p:nvPr/>
        </p:nvSpPr>
        <p:spPr>
          <a:xfrm>
            <a:off x="868680" y="4896720"/>
            <a:ext cx="29714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Controle de estoque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9"/>
          <p:cNvSpPr/>
          <p:nvPr/>
        </p:nvSpPr>
        <p:spPr>
          <a:xfrm>
            <a:off x="4599360" y="4827960"/>
            <a:ext cx="2971440" cy="310680"/>
          </a:xfrm>
          <a:prstGeom prst="roundRect">
            <a:avLst>
              <a:gd name="adj" fmla="val 23529"/>
            </a:avLst>
          </a:prstGeom>
          <a:solidFill>
            <a:srgbClr val="C8161D">
              <a:alpha val="94000"/>
            </a:srgbClr>
          </a:solidFill>
          <a:ln w="12700">
            <a:solidFill>
              <a:srgbClr val="C816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0" name="Text 10"/>
          <p:cNvSpPr/>
          <p:nvPr/>
        </p:nvSpPr>
        <p:spPr>
          <a:xfrm>
            <a:off x="4599360" y="4896720"/>
            <a:ext cx="29714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Requisição de peças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1"/>
          <p:cNvSpPr/>
          <p:nvPr/>
        </p:nvSpPr>
        <p:spPr>
          <a:xfrm>
            <a:off x="8348400" y="4827960"/>
            <a:ext cx="2971440" cy="310680"/>
          </a:xfrm>
          <a:prstGeom prst="roundRect">
            <a:avLst>
              <a:gd name="adj" fmla="val 23529"/>
            </a:avLst>
          </a:prstGeom>
          <a:solidFill>
            <a:srgbClr val="C8161D">
              <a:alpha val="94000"/>
            </a:srgbClr>
          </a:solidFill>
          <a:ln w="12700">
            <a:solidFill>
              <a:srgbClr val="C8161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2" name="Text 12"/>
          <p:cNvSpPr/>
          <p:nvPr/>
        </p:nvSpPr>
        <p:spPr>
          <a:xfrm>
            <a:off x="8348400" y="4896720"/>
            <a:ext cx="29714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Histórico de OS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4"/>
          <p:cNvSpPr/>
          <p:nvPr/>
        </p:nvSpPr>
        <p:spPr>
          <a:xfrm>
            <a:off x="411480" y="6565320"/>
            <a:ext cx="39315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75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Garagem 66 • Projeto de Sistema Web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5"/>
          <p:cNvSpPr/>
          <p:nvPr/>
        </p:nvSpPr>
        <p:spPr>
          <a:xfrm>
            <a:off x="11567160" y="6546960"/>
            <a:ext cx="200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12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ounded Rectangle 22"/>
          <p:cNvSpPr/>
          <p:nvPr/>
        </p:nvSpPr>
        <p:spPr>
          <a:xfrm>
            <a:off x="1051560" y="5486400"/>
            <a:ext cx="9829440" cy="566640"/>
          </a:xfrm>
          <a:prstGeom prst="roundRect">
            <a:avLst>
              <a:gd name="adj" fmla="val 16667"/>
            </a:avLst>
          </a:prstGeom>
          <a:solidFill>
            <a:srgbClr val="F7F8FA"/>
          </a:solidFill>
          <a:ln>
            <a:solidFill>
              <a:srgbClr val="DD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46" name="TextBox 23"/>
          <p:cNvSpPr/>
          <p:nvPr/>
        </p:nvSpPr>
        <p:spPr>
          <a:xfrm>
            <a:off x="1234440" y="5623560"/>
            <a:ext cx="9463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rgbClr val="08121C"/>
                </a:solidFill>
                <a:effectLst/>
                <a:uFillTx/>
                <a:latin typeface="Aptos"/>
              </a:rPr>
              <a:t>Mecânico solicita peças  →  Administrador aprova ou recusa  →  Histórico de OS preserva a rastreabilidade da motocicleta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24"/>
          <p:cNvSpPr/>
          <p:nvPr/>
        </p:nvSpPr>
        <p:spPr>
          <a:xfrm>
            <a:off x="411480" y="118800"/>
            <a:ext cx="54360" cy="328680"/>
          </a:xfrm>
          <a:prstGeom prst="rect">
            <a:avLst/>
          </a:prstGeom>
          <a:solidFill>
            <a:srgbClr val="DA121C"/>
          </a:solidFill>
          <a:ln>
            <a:solidFill>
              <a:srgbClr val="DA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685800" y="146160"/>
            <a:ext cx="7223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8121C"/>
                </a:solidFill>
                <a:effectLst/>
                <a:uFillTx/>
                <a:latin typeface="Aptos Display"/>
                <a:ea typeface="Aptos Display"/>
              </a:rPr>
              <a:t>Área do cliente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685800" y="44820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Transparência no acompanhamento da motocicleta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3"/>
          <p:cNvSpPr/>
          <p:nvPr/>
        </p:nvSpPr>
        <p:spPr>
          <a:xfrm>
            <a:off x="0" y="658080"/>
            <a:ext cx="12191400" cy="360"/>
          </a:xfrm>
          <a:prstGeom prst="line">
            <a:avLst/>
          </a:prstGeom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2" name="Text 4"/>
          <p:cNvSpPr/>
          <p:nvPr/>
        </p:nvSpPr>
        <p:spPr>
          <a:xfrm>
            <a:off x="594360" y="914400"/>
            <a:ext cx="4937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419"/>
                </a:solidFill>
                <a:effectLst/>
                <a:uFillTx/>
                <a:latin typeface="Aptos Display"/>
                <a:ea typeface="Aptos Display"/>
              </a:rPr>
              <a:t>Experiência do cliente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5"/>
          <p:cNvSpPr/>
          <p:nvPr/>
        </p:nvSpPr>
        <p:spPr>
          <a:xfrm>
            <a:off x="594360" y="1481400"/>
            <a:ext cx="658080" cy="63720"/>
          </a:xfrm>
          <a:prstGeom prst="rect">
            <a:avLst/>
          </a:prstGeom>
          <a:solidFill>
            <a:srgbClr val="C8161D"/>
          </a:solidFill>
          <a:ln w="12700">
            <a:solidFill>
              <a:srgbClr val="C816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4" name="Shape 6"/>
          <p:cNvSpPr/>
          <p:nvPr/>
        </p:nvSpPr>
        <p:spPr>
          <a:xfrm>
            <a:off x="658440" y="1737360"/>
            <a:ext cx="283428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5" name="Shape 7"/>
          <p:cNvSpPr/>
          <p:nvPr/>
        </p:nvSpPr>
        <p:spPr>
          <a:xfrm>
            <a:off x="658440" y="1737360"/>
            <a:ext cx="72720" cy="959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6" name="Text 8"/>
          <p:cNvSpPr/>
          <p:nvPr/>
        </p:nvSpPr>
        <p:spPr>
          <a:xfrm>
            <a:off x="859680" y="190188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Acompanhamento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9"/>
          <p:cNvSpPr/>
          <p:nvPr/>
        </p:nvSpPr>
        <p:spPr>
          <a:xfrm>
            <a:off x="859680" y="2240280"/>
            <a:ext cx="2450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5C6670"/>
                </a:solidFill>
                <a:effectLst/>
                <a:uFillTx/>
                <a:latin typeface="Aptos"/>
              </a:rPr>
              <a:t>Consulta suas motocicletas e ordens de serviço em andamento.</a:t>
            </a:r>
            <a:endParaRPr lang="pt-BR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0"/>
          <p:cNvSpPr/>
          <p:nvPr/>
        </p:nvSpPr>
        <p:spPr>
          <a:xfrm>
            <a:off x="658440" y="2880360"/>
            <a:ext cx="283428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9" name="Shape 11"/>
          <p:cNvSpPr/>
          <p:nvPr/>
        </p:nvSpPr>
        <p:spPr>
          <a:xfrm>
            <a:off x="658440" y="2880360"/>
            <a:ext cx="72720" cy="959760"/>
          </a:xfrm>
          <a:prstGeom prst="rect">
            <a:avLst/>
          </a:prstGeom>
          <a:solidFill>
            <a:srgbClr val="2BA84A"/>
          </a:solidFill>
          <a:ln w="12700">
            <a:solidFill>
              <a:srgbClr val="2BA8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0" name="Text 12"/>
          <p:cNvSpPr/>
          <p:nvPr/>
        </p:nvSpPr>
        <p:spPr>
          <a:xfrm>
            <a:off x="859680" y="304488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Decisão digital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3"/>
          <p:cNvSpPr/>
          <p:nvPr/>
        </p:nvSpPr>
        <p:spPr>
          <a:xfrm>
            <a:off x="859680" y="3383280"/>
            <a:ext cx="2450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5C6670"/>
                </a:solidFill>
                <a:effectLst/>
                <a:uFillTx/>
                <a:latin typeface="Aptos"/>
              </a:rPr>
              <a:t>Visualiza o orçamento e registra aprovação ou recusa pelo sistema.</a:t>
            </a:r>
            <a:endParaRPr lang="pt-BR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4"/>
          <p:cNvSpPr/>
          <p:nvPr/>
        </p:nvSpPr>
        <p:spPr>
          <a:xfrm>
            <a:off x="658440" y="4023360"/>
            <a:ext cx="2834280" cy="9597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3" name="Shape 15"/>
          <p:cNvSpPr/>
          <p:nvPr/>
        </p:nvSpPr>
        <p:spPr>
          <a:xfrm>
            <a:off x="658440" y="4023360"/>
            <a:ext cx="72720" cy="959760"/>
          </a:xfrm>
          <a:prstGeom prst="rect">
            <a:avLst/>
          </a:prstGeom>
          <a:solidFill>
            <a:srgbClr val="C8161D"/>
          </a:solidFill>
          <a:ln w="12700">
            <a:solidFill>
              <a:srgbClr val="C816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4" name="Text 16"/>
          <p:cNvSpPr/>
          <p:nvPr/>
        </p:nvSpPr>
        <p:spPr>
          <a:xfrm>
            <a:off x="859680" y="418788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Histórico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7"/>
          <p:cNvSpPr/>
          <p:nvPr/>
        </p:nvSpPr>
        <p:spPr>
          <a:xfrm>
            <a:off x="859680" y="4526280"/>
            <a:ext cx="2450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5C6670"/>
                </a:solidFill>
                <a:effectLst/>
                <a:uFillTx/>
                <a:latin typeface="Aptos"/>
              </a:rPr>
              <a:t>Acessa os atendimentos anteriores vinculados às suas próprias motos.</a:t>
            </a:r>
            <a:endParaRPr lang="pt-BR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8"/>
          <p:cNvSpPr/>
          <p:nvPr/>
        </p:nvSpPr>
        <p:spPr>
          <a:xfrm>
            <a:off x="658440" y="5230440"/>
            <a:ext cx="2834280" cy="658080"/>
          </a:xfrm>
          <a:prstGeom prst="roundRect">
            <a:avLst>
              <a:gd name="adj" fmla="val 11111"/>
            </a:avLst>
          </a:prstGeom>
          <a:solidFill>
            <a:srgbClr val="FEF2F2"/>
          </a:solidFill>
          <a:ln w="12700">
            <a:solidFill>
              <a:srgbClr val="FECA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7" name="Text 19"/>
          <p:cNvSpPr/>
          <p:nvPr/>
        </p:nvSpPr>
        <p:spPr>
          <a:xfrm>
            <a:off x="822960" y="542232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8161D"/>
                </a:solidFill>
                <a:effectLst/>
                <a:uFillTx/>
                <a:latin typeface="Aptos"/>
              </a:rPr>
              <a:t>O cliente não acessa telas administrativas como estoque, requisições ou cadastro de outros clientes.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8" name="Image 1" descr="/mnt/data/docx_media/image14.png"/>
          <p:cNvPicPr/>
          <p:nvPr/>
        </p:nvPicPr>
        <p:blipFill>
          <a:blip r:embed="rId1"/>
          <a:stretch/>
        </p:blipFill>
        <p:spPr>
          <a:xfrm>
            <a:off x="4663440" y="1572840"/>
            <a:ext cx="6034680" cy="452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ext 20"/>
          <p:cNvSpPr/>
          <p:nvPr/>
        </p:nvSpPr>
        <p:spPr>
          <a:xfrm>
            <a:off x="411480" y="6565320"/>
            <a:ext cx="39315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75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Garagem 66 • Projeto de Sistema Web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1"/>
          <p:cNvSpPr/>
          <p:nvPr/>
        </p:nvSpPr>
        <p:spPr>
          <a:xfrm>
            <a:off x="11567160" y="6546960"/>
            <a:ext cx="200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13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ectangle 25"/>
          <p:cNvSpPr/>
          <p:nvPr/>
        </p:nvSpPr>
        <p:spPr>
          <a:xfrm>
            <a:off x="411480" y="118800"/>
            <a:ext cx="54360" cy="328680"/>
          </a:xfrm>
          <a:prstGeom prst="rect">
            <a:avLst/>
          </a:prstGeom>
          <a:solidFill>
            <a:srgbClr val="DA121C"/>
          </a:solidFill>
          <a:ln>
            <a:solidFill>
              <a:srgbClr val="DA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0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3" name="Text 1"/>
          <p:cNvSpPr/>
          <p:nvPr/>
        </p:nvSpPr>
        <p:spPr>
          <a:xfrm>
            <a:off x="685800" y="146160"/>
            <a:ext cx="7223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8121C"/>
                </a:solidFill>
                <a:effectLst/>
                <a:uFillTx/>
                <a:latin typeface="Aptos Display"/>
                <a:ea typeface="Aptos Display"/>
              </a:rPr>
              <a:t>Planejamento de desenvolvimento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"/>
          <p:cNvSpPr/>
          <p:nvPr/>
        </p:nvSpPr>
        <p:spPr>
          <a:xfrm>
            <a:off x="685800" y="44820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Etapas realizadas da análise à publicação e validação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3"/>
          <p:cNvSpPr/>
          <p:nvPr/>
        </p:nvSpPr>
        <p:spPr>
          <a:xfrm>
            <a:off x="0" y="658080"/>
            <a:ext cx="12191400" cy="360"/>
          </a:xfrm>
          <a:prstGeom prst="line">
            <a:avLst/>
          </a:prstGeom>
          <a:ln w="635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6" name="Text 4"/>
          <p:cNvSpPr/>
          <p:nvPr/>
        </p:nvSpPr>
        <p:spPr>
          <a:xfrm>
            <a:off x="594360" y="914400"/>
            <a:ext cx="5943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419"/>
                </a:solidFill>
                <a:effectLst/>
                <a:uFillTx/>
                <a:latin typeface="Aptos Display"/>
                <a:ea typeface="Aptos Display"/>
              </a:rPr>
              <a:t>Cronograma realizado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5"/>
          <p:cNvSpPr/>
          <p:nvPr/>
        </p:nvSpPr>
        <p:spPr>
          <a:xfrm>
            <a:off x="594360" y="1481400"/>
            <a:ext cx="658080" cy="63720"/>
          </a:xfrm>
          <a:prstGeom prst="rect">
            <a:avLst/>
          </a:prstGeom>
          <a:solidFill>
            <a:srgbClr val="C8161D"/>
          </a:solidFill>
          <a:ln w="12700">
            <a:solidFill>
              <a:srgbClr val="C816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8" name="Text 6"/>
          <p:cNvSpPr/>
          <p:nvPr/>
        </p:nvSpPr>
        <p:spPr>
          <a:xfrm>
            <a:off x="621720" y="1572840"/>
            <a:ext cx="5303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C6670"/>
                </a:solidFill>
                <a:effectLst/>
                <a:uFillTx/>
                <a:latin typeface="Aptos"/>
              </a:rPr>
              <a:t>Estimativa total: 92 horas de esforço, distribuídas da análise à apresentação final.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7"/>
          <p:cNvSpPr/>
          <p:nvPr/>
        </p:nvSpPr>
        <p:spPr>
          <a:xfrm>
            <a:off x="731520" y="2148840"/>
            <a:ext cx="2971440" cy="7128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0" name="Shape 8"/>
          <p:cNvSpPr/>
          <p:nvPr/>
        </p:nvSpPr>
        <p:spPr>
          <a:xfrm>
            <a:off x="877680" y="2322720"/>
            <a:ext cx="347040" cy="347040"/>
          </a:xfrm>
          <a:prstGeom prst="ellipse">
            <a:avLst/>
          </a:prstGeom>
          <a:solidFill>
            <a:srgbClr val="C8161D"/>
          </a:solidFill>
          <a:ln w="12700">
            <a:solidFill>
              <a:srgbClr val="C816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1" name="Text 9"/>
          <p:cNvSpPr/>
          <p:nvPr/>
        </p:nvSpPr>
        <p:spPr>
          <a:xfrm>
            <a:off x="877680" y="2400480"/>
            <a:ext cx="3470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0"/>
          <p:cNvSpPr/>
          <p:nvPr/>
        </p:nvSpPr>
        <p:spPr>
          <a:xfrm>
            <a:off x="1325880" y="2313360"/>
            <a:ext cx="231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Requisitos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1"/>
          <p:cNvSpPr/>
          <p:nvPr/>
        </p:nvSpPr>
        <p:spPr>
          <a:xfrm>
            <a:off x="4434840" y="2148840"/>
            <a:ext cx="2971440" cy="7128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4" name="Shape 12"/>
          <p:cNvSpPr/>
          <p:nvPr/>
        </p:nvSpPr>
        <p:spPr>
          <a:xfrm>
            <a:off x="4581000" y="2322720"/>
            <a:ext cx="347040" cy="347040"/>
          </a:xfrm>
          <a:prstGeom prst="ellipse">
            <a:avLst/>
          </a:prstGeom>
          <a:solidFill>
            <a:srgbClr val="C8161D"/>
          </a:solidFill>
          <a:ln w="12700">
            <a:solidFill>
              <a:srgbClr val="C816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5" name="Text 13"/>
          <p:cNvSpPr/>
          <p:nvPr/>
        </p:nvSpPr>
        <p:spPr>
          <a:xfrm>
            <a:off x="4581000" y="2400480"/>
            <a:ext cx="3470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4"/>
          <p:cNvSpPr/>
          <p:nvPr/>
        </p:nvSpPr>
        <p:spPr>
          <a:xfrm>
            <a:off x="5029200" y="2313360"/>
            <a:ext cx="231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Modelagem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5"/>
          <p:cNvSpPr/>
          <p:nvPr/>
        </p:nvSpPr>
        <p:spPr>
          <a:xfrm>
            <a:off x="8138160" y="2148840"/>
            <a:ext cx="2971440" cy="7128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8" name="Shape 16"/>
          <p:cNvSpPr/>
          <p:nvPr/>
        </p:nvSpPr>
        <p:spPr>
          <a:xfrm>
            <a:off x="8284320" y="2322720"/>
            <a:ext cx="347040" cy="347040"/>
          </a:xfrm>
          <a:prstGeom prst="ellipse">
            <a:avLst/>
          </a:prstGeom>
          <a:solidFill>
            <a:srgbClr val="C8161D"/>
          </a:solidFill>
          <a:ln w="12700">
            <a:solidFill>
              <a:srgbClr val="C816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9" name="Text 17"/>
          <p:cNvSpPr/>
          <p:nvPr/>
        </p:nvSpPr>
        <p:spPr>
          <a:xfrm>
            <a:off x="8284320" y="2400480"/>
            <a:ext cx="3470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8"/>
          <p:cNvSpPr/>
          <p:nvPr/>
        </p:nvSpPr>
        <p:spPr>
          <a:xfrm>
            <a:off x="8732520" y="2313360"/>
            <a:ext cx="231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Protótipos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9"/>
          <p:cNvSpPr/>
          <p:nvPr/>
        </p:nvSpPr>
        <p:spPr>
          <a:xfrm>
            <a:off x="731520" y="3200400"/>
            <a:ext cx="2971440" cy="7128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2" name="Shape 20"/>
          <p:cNvSpPr/>
          <p:nvPr/>
        </p:nvSpPr>
        <p:spPr>
          <a:xfrm>
            <a:off x="877680" y="3374280"/>
            <a:ext cx="347040" cy="347040"/>
          </a:xfrm>
          <a:prstGeom prst="ellipse">
            <a:avLst/>
          </a:prstGeom>
          <a:solidFill>
            <a:srgbClr val="C8161D"/>
          </a:solidFill>
          <a:ln w="12700">
            <a:solidFill>
              <a:srgbClr val="C816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3" name="Text 21"/>
          <p:cNvSpPr/>
          <p:nvPr/>
        </p:nvSpPr>
        <p:spPr>
          <a:xfrm>
            <a:off x="877680" y="3452040"/>
            <a:ext cx="3470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2"/>
          <p:cNvSpPr/>
          <p:nvPr/>
        </p:nvSpPr>
        <p:spPr>
          <a:xfrm>
            <a:off x="1325880" y="3364920"/>
            <a:ext cx="231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Front-end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23"/>
          <p:cNvSpPr/>
          <p:nvPr/>
        </p:nvSpPr>
        <p:spPr>
          <a:xfrm>
            <a:off x="4434840" y="3200400"/>
            <a:ext cx="2971440" cy="7128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6" name="Shape 24"/>
          <p:cNvSpPr/>
          <p:nvPr/>
        </p:nvSpPr>
        <p:spPr>
          <a:xfrm>
            <a:off x="4581000" y="3374280"/>
            <a:ext cx="347040" cy="347040"/>
          </a:xfrm>
          <a:prstGeom prst="ellipse">
            <a:avLst/>
          </a:prstGeom>
          <a:solidFill>
            <a:srgbClr val="C8161D"/>
          </a:solidFill>
          <a:ln w="12700">
            <a:solidFill>
              <a:srgbClr val="C816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7" name="Text 25"/>
          <p:cNvSpPr/>
          <p:nvPr/>
        </p:nvSpPr>
        <p:spPr>
          <a:xfrm>
            <a:off x="4581000" y="3452040"/>
            <a:ext cx="3470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6"/>
          <p:cNvSpPr/>
          <p:nvPr/>
        </p:nvSpPr>
        <p:spPr>
          <a:xfrm>
            <a:off x="5029200" y="3364920"/>
            <a:ext cx="231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Back-end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27"/>
          <p:cNvSpPr/>
          <p:nvPr/>
        </p:nvSpPr>
        <p:spPr>
          <a:xfrm>
            <a:off x="8138160" y="3200400"/>
            <a:ext cx="2971440" cy="7128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0" name="Shape 28"/>
          <p:cNvSpPr/>
          <p:nvPr/>
        </p:nvSpPr>
        <p:spPr>
          <a:xfrm>
            <a:off x="8284320" y="3374280"/>
            <a:ext cx="347040" cy="347040"/>
          </a:xfrm>
          <a:prstGeom prst="ellipse">
            <a:avLst/>
          </a:prstGeom>
          <a:solidFill>
            <a:srgbClr val="C8161D"/>
          </a:solidFill>
          <a:ln w="12700">
            <a:solidFill>
              <a:srgbClr val="C816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1" name="Text 29"/>
          <p:cNvSpPr/>
          <p:nvPr/>
        </p:nvSpPr>
        <p:spPr>
          <a:xfrm>
            <a:off x="8284320" y="3452040"/>
            <a:ext cx="3470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30"/>
          <p:cNvSpPr/>
          <p:nvPr/>
        </p:nvSpPr>
        <p:spPr>
          <a:xfrm>
            <a:off x="8732520" y="3364920"/>
            <a:ext cx="231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BD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31"/>
          <p:cNvSpPr/>
          <p:nvPr/>
        </p:nvSpPr>
        <p:spPr>
          <a:xfrm>
            <a:off x="731520" y="4251960"/>
            <a:ext cx="2971440" cy="7128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4" name="Shape 32"/>
          <p:cNvSpPr/>
          <p:nvPr/>
        </p:nvSpPr>
        <p:spPr>
          <a:xfrm>
            <a:off x="877680" y="4425840"/>
            <a:ext cx="347040" cy="347040"/>
          </a:xfrm>
          <a:prstGeom prst="ellipse">
            <a:avLst/>
          </a:prstGeom>
          <a:solidFill>
            <a:srgbClr val="C8161D"/>
          </a:solidFill>
          <a:ln w="12700">
            <a:solidFill>
              <a:srgbClr val="C816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5" name="Text 33"/>
          <p:cNvSpPr/>
          <p:nvPr/>
        </p:nvSpPr>
        <p:spPr>
          <a:xfrm>
            <a:off x="877680" y="4503600"/>
            <a:ext cx="3470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7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34"/>
          <p:cNvSpPr/>
          <p:nvPr/>
        </p:nvSpPr>
        <p:spPr>
          <a:xfrm>
            <a:off x="1325880" y="4416480"/>
            <a:ext cx="231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Integração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35"/>
          <p:cNvSpPr/>
          <p:nvPr/>
        </p:nvSpPr>
        <p:spPr>
          <a:xfrm>
            <a:off x="4434840" y="4251960"/>
            <a:ext cx="2971440" cy="7128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8" name="Shape 36"/>
          <p:cNvSpPr/>
          <p:nvPr/>
        </p:nvSpPr>
        <p:spPr>
          <a:xfrm>
            <a:off x="4581000" y="4425840"/>
            <a:ext cx="347040" cy="347040"/>
          </a:xfrm>
          <a:prstGeom prst="ellipse">
            <a:avLst/>
          </a:prstGeom>
          <a:solidFill>
            <a:srgbClr val="C8161D"/>
          </a:solidFill>
          <a:ln w="12700">
            <a:solidFill>
              <a:srgbClr val="C816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9" name="Text 37"/>
          <p:cNvSpPr/>
          <p:nvPr/>
        </p:nvSpPr>
        <p:spPr>
          <a:xfrm>
            <a:off x="4581000" y="4503600"/>
            <a:ext cx="3470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8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38"/>
          <p:cNvSpPr/>
          <p:nvPr/>
        </p:nvSpPr>
        <p:spPr>
          <a:xfrm>
            <a:off x="5029200" y="4416480"/>
            <a:ext cx="231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Testes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39"/>
          <p:cNvSpPr/>
          <p:nvPr/>
        </p:nvSpPr>
        <p:spPr>
          <a:xfrm>
            <a:off x="8138160" y="4251960"/>
            <a:ext cx="2971440" cy="7128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2" name="Shape 40"/>
          <p:cNvSpPr/>
          <p:nvPr/>
        </p:nvSpPr>
        <p:spPr>
          <a:xfrm>
            <a:off x="8284320" y="4425840"/>
            <a:ext cx="347040" cy="347040"/>
          </a:xfrm>
          <a:prstGeom prst="ellipse">
            <a:avLst/>
          </a:prstGeom>
          <a:solidFill>
            <a:srgbClr val="C8161D"/>
          </a:solidFill>
          <a:ln w="12700">
            <a:solidFill>
              <a:srgbClr val="C816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3" name="Text 41"/>
          <p:cNvSpPr/>
          <p:nvPr/>
        </p:nvSpPr>
        <p:spPr>
          <a:xfrm>
            <a:off x="8284320" y="4503600"/>
            <a:ext cx="3470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9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42"/>
          <p:cNvSpPr/>
          <p:nvPr/>
        </p:nvSpPr>
        <p:spPr>
          <a:xfrm>
            <a:off x="8732520" y="4416480"/>
            <a:ext cx="231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Apresentação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43"/>
          <p:cNvSpPr/>
          <p:nvPr/>
        </p:nvSpPr>
        <p:spPr>
          <a:xfrm>
            <a:off x="1005840" y="5623560"/>
            <a:ext cx="10149480" cy="475200"/>
          </a:xfrm>
          <a:prstGeom prst="roundRect">
            <a:avLst>
              <a:gd name="adj" fmla="val 19231"/>
            </a:avLst>
          </a:prstGeom>
          <a:solidFill>
            <a:srgbClr val="0B1419"/>
          </a:solidFill>
          <a:ln w="12700">
            <a:solidFill>
              <a:srgbClr val="0B14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6" name="Text 44"/>
          <p:cNvSpPr/>
          <p:nvPr/>
        </p:nvSpPr>
        <p:spPr>
          <a:xfrm>
            <a:off x="1234440" y="5779080"/>
            <a:ext cx="96922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Testes e homologação foram realizados após a implementação, com cenários simulados para os quatro perfis.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45"/>
          <p:cNvSpPr/>
          <p:nvPr/>
        </p:nvSpPr>
        <p:spPr>
          <a:xfrm>
            <a:off x="411480" y="6565320"/>
            <a:ext cx="39315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750" b="0" u="none" strike="noStrike">
                <a:solidFill>
                  <a:srgbClr val="606B78"/>
                </a:solidFill>
                <a:effectLst/>
                <a:uFillTx/>
                <a:latin typeface="Aptos"/>
              </a:rPr>
              <a:t>Garagem 66 • Projeto de Sistema Web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46"/>
          <p:cNvSpPr/>
          <p:nvPr/>
        </p:nvSpPr>
        <p:spPr>
          <a:xfrm>
            <a:off x="11567160" y="6546960"/>
            <a:ext cx="200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14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Rectangle 49"/>
          <p:cNvSpPr/>
          <p:nvPr/>
        </p:nvSpPr>
        <p:spPr>
          <a:xfrm>
            <a:off x="411480" y="118800"/>
            <a:ext cx="54360" cy="328680"/>
          </a:xfrm>
          <a:prstGeom prst="rect">
            <a:avLst/>
          </a:prstGeom>
          <a:solidFill>
            <a:srgbClr val="DA121C"/>
          </a:solidFill>
          <a:ln>
            <a:solidFill>
              <a:srgbClr val="DA1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1"/>
          <p:cNvSpPr/>
          <p:nvPr/>
        </p:nvSpPr>
        <p:spPr>
          <a:xfrm>
            <a:off x="274320" y="255960"/>
            <a:ext cx="54360" cy="43848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21" name="TextBox 2"/>
          <p:cNvSpPr/>
          <p:nvPr/>
        </p:nvSpPr>
        <p:spPr>
          <a:xfrm>
            <a:off x="411480" y="22860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1" u="none" strike="noStrike">
                <a:solidFill>
                  <a:srgbClr val="D71920"/>
                </a:solidFill>
                <a:effectLst/>
                <a:uFillTx/>
                <a:latin typeface="Arial"/>
              </a:rPr>
              <a:t>QUALIDADE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3"/>
          <p:cNvSpPr/>
          <p:nvPr/>
        </p:nvSpPr>
        <p:spPr>
          <a:xfrm>
            <a:off x="411480" y="475560"/>
            <a:ext cx="8960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4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Testes e homologação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4"/>
          <p:cNvSpPr/>
          <p:nvPr/>
        </p:nvSpPr>
        <p:spPr>
          <a:xfrm>
            <a:off x="411480" y="93276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5E6974"/>
                </a:solidFill>
                <a:effectLst/>
                <a:uFillTx/>
                <a:latin typeface="Arial"/>
              </a:rPr>
              <a:t>Evidências objetivas da implementação e das regras de negócio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5"/>
          <p:cNvSpPr/>
          <p:nvPr/>
        </p:nvSpPr>
        <p:spPr>
          <a:xfrm>
            <a:off x="11292840" y="32004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15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Rounded Rectangle 6"/>
          <p:cNvSpPr/>
          <p:nvPr/>
        </p:nvSpPr>
        <p:spPr>
          <a:xfrm>
            <a:off x="457200" y="1572840"/>
            <a:ext cx="342864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26" name="TextBox 7"/>
          <p:cNvSpPr/>
          <p:nvPr/>
        </p:nvSpPr>
        <p:spPr>
          <a:xfrm>
            <a:off x="658440" y="1746360"/>
            <a:ext cx="1142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000" b="1" u="none" strike="noStrike">
                <a:solidFill>
                  <a:srgbClr val="D71920"/>
                </a:solidFill>
                <a:effectLst/>
                <a:uFillTx/>
                <a:latin typeface="Arial"/>
              </a:rPr>
              <a:t>48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8"/>
          <p:cNvSpPr/>
          <p:nvPr/>
        </p:nvSpPr>
        <p:spPr>
          <a:xfrm>
            <a:off x="1783080" y="1755720"/>
            <a:ext cx="1846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testes automatizados documentados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ounded Rectangle 9"/>
          <p:cNvSpPr/>
          <p:nvPr/>
        </p:nvSpPr>
        <p:spPr>
          <a:xfrm>
            <a:off x="4370760" y="1572840"/>
            <a:ext cx="342864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29" name="TextBox 10"/>
          <p:cNvSpPr/>
          <p:nvPr/>
        </p:nvSpPr>
        <p:spPr>
          <a:xfrm>
            <a:off x="4572000" y="1746360"/>
            <a:ext cx="1142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000" b="1" u="none" strike="noStrike">
                <a:solidFill>
                  <a:srgbClr val="1D8E50"/>
                </a:solidFill>
                <a:effectLst/>
                <a:uFillTx/>
                <a:latin typeface="Arial"/>
              </a:rPr>
              <a:t>48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11"/>
          <p:cNvSpPr/>
          <p:nvPr/>
        </p:nvSpPr>
        <p:spPr>
          <a:xfrm>
            <a:off x="5696640" y="1755720"/>
            <a:ext cx="1846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testes aprovados na execução registrada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ounded Rectangle 12"/>
          <p:cNvSpPr/>
          <p:nvPr/>
        </p:nvSpPr>
        <p:spPr>
          <a:xfrm>
            <a:off x="8275320" y="1572840"/>
            <a:ext cx="342864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32" name="TextBox 13"/>
          <p:cNvSpPr/>
          <p:nvPr/>
        </p:nvSpPr>
        <p:spPr>
          <a:xfrm>
            <a:off x="8476560" y="1746360"/>
            <a:ext cx="1142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0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0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14"/>
          <p:cNvSpPr/>
          <p:nvPr/>
        </p:nvSpPr>
        <p:spPr>
          <a:xfrm>
            <a:off x="9601200" y="1755720"/>
            <a:ext cx="18468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falhas encontradas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15"/>
          <p:cNvSpPr/>
          <p:nvPr/>
        </p:nvSpPr>
        <p:spPr>
          <a:xfrm>
            <a:off x="530280" y="315468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4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Áreas verificadas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Rounded Rectangle 16"/>
          <p:cNvSpPr/>
          <p:nvPr/>
        </p:nvSpPr>
        <p:spPr>
          <a:xfrm>
            <a:off x="530280" y="3611880"/>
            <a:ext cx="5257440" cy="849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36" name="TextBox 17"/>
          <p:cNvSpPr/>
          <p:nvPr/>
        </p:nvSpPr>
        <p:spPr>
          <a:xfrm>
            <a:off x="713160" y="374904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Autenticação e perfis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18"/>
          <p:cNvSpPr/>
          <p:nvPr/>
        </p:nvSpPr>
        <p:spPr>
          <a:xfrm>
            <a:off x="2651760" y="3730680"/>
            <a:ext cx="2907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5E6974"/>
                </a:solidFill>
                <a:effectLst/>
                <a:uFillTx/>
                <a:latin typeface="Arial"/>
              </a:rPr>
              <a:t>Acesso controlado para Administrador, Atendente, Mecânico e Cliente.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ounded Rectangle 19"/>
          <p:cNvSpPr/>
          <p:nvPr/>
        </p:nvSpPr>
        <p:spPr>
          <a:xfrm>
            <a:off x="6153840" y="3611880"/>
            <a:ext cx="5257440" cy="849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39" name="TextBox 20"/>
          <p:cNvSpPr/>
          <p:nvPr/>
        </p:nvSpPr>
        <p:spPr>
          <a:xfrm>
            <a:off x="6336720" y="374904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Orçamentos e 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21"/>
          <p:cNvSpPr/>
          <p:nvPr/>
        </p:nvSpPr>
        <p:spPr>
          <a:xfrm>
            <a:off x="8275320" y="3730680"/>
            <a:ext cx="2907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5E6974"/>
                </a:solidFill>
                <a:effectLst/>
                <a:uFillTx/>
                <a:latin typeface="Arial"/>
              </a:rPr>
              <a:t>Aprovação, recusa, execução, conclusão e histórico de mudanças.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Rounded Rectangle 22"/>
          <p:cNvSpPr/>
          <p:nvPr/>
        </p:nvSpPr>
        <p:spPr>
          <a:xfrm>
            <a:off x="530280" y="4690800"/>
            <a:ext cx="5257440" cy="849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42" name="TextBox 23"/>
          <p:cNvSpPr/>
          <p:nvPr/>
        </p:nvSpPr>
        <p:spPr>
          <a:xfrm>
            <a:off x="713160" y="482796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Estoque e peças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24"/>
          <p:cNvSpPr/>
          <p:nvPr/>
        </p:nvSpPr>
        <p:spPr>
          <a:xfrm>
            <a:off x="2651760" y="4809600"/>
            <a:ext cx="2907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5E6974"/>
                </a:solidFill>
                <a:effectLst/>
                <a:uFillTx/>
                <a:latin typeface="Arial"/>
              </a:rPr>
              <a:t>Solicitação, decisão administrativa, baixa e devolução controladas.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Rounded Rectangle 25"/>
          <p:cNvSpPr/>
          <p:nvPr/>
        </p:nvSpPr>
        <p:spPr>
          <a:xfrm>
            <a:off x="6153840" y="4690800"/>
            <a:ext cx="5257440" cy="849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45" name="TextBox 26"/>
          <p:cNvSpPr/>
          <p:nvPr/>
        </p:nvSpPr>
        <p:spPr>
          <a:xfrm>
            <a:off x="6336720" y="4827960"/>
            <a:ext cx="196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Privacidade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27"/>
          <p:cNvSpPr/>
          <p:nvPr/>
        </p:nvSpPr>
        <p:spPr>
          <a:xfrm>
            <a:off x="8275320" y="4809600"/>
            <a:ext cx="29073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5E6974"/>
                </a:solidFill>
                <a:effectLst/>
                <a:uFillTx/>
                <a:latin typeface="Arial"/>
              </a:rPr>
              <a:t>Cliente restrito aos próprios dados e Mecânico às ordens atribuídas.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28"/>
          <p:cNvSpPr/>
          <p:nvPr/>
        </p:nvSpPr>
        <p:spPr>
          <a:xfrm>
            <a:off x="411480" y="6510600"/>
            <a:ext cx="50288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600" b="0" u="none" strike="noStrike">
                <a:solidFill>
                  <a:srgbClr val="5E6974"/>
                </a:solidFill>
                <a:effectLst/>
                <a:uFillTx/>
                <a:latin typeface="Arial"/>
              </a:rPr>
              <a:t>Garagem 66  •  Projeto Multidisciplinar III</a:t>
            </a:r>
            <a:endParaRPr lang="pt-BR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29"/>
          <p:cNvSpPr/>
          <p:nvPr/>
        </p:nvSpPr>
        <p:spPr>
          <a:xfrm>
            <a:off x="11320200" y="6510600"/>
            <a:ext cx="3654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15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Rectangle 1"/>
          <p:cNvSpPr/>
          <p:nvPr/>
        </p:nvSpPr>
        <p:spPr>
          <a:xfrm>
            <a:off x="274320" y="255960"/>
            <a:ext cx="54360" cy="43848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50" name="TextBox 2"/>
          <p:cNvSpPr/>
          <p:nvPr/>
        </p:nvSpPr>
        <p:spPr>
          <a:xfrm>
            <a:off x="411480" y="22860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1" u="none" strike="noStrike">
                <a:solidFill>
                  <a:srgbClr val="D71920"/>
                </a:solidFill>
                <a:effectLst/>
                <a:uFillTx/>
                <a:latin typeface="Arial"/>
              </a:rPr>
              <a:t>REGRA DE NEGÓCIO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3"/>
          <p:cNvSpPr/>
          <p:nvPr/>
        </p:nvSpPr>
        <p:spPr>
          <a:xfrm>
            <a:off x="411480" y="475560"/>
            <a:ext cx="8960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4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Governança do orçamento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4"/>
          <p:cNvSpPr/>
          <p:nvPr/>
        </p:nvSpPr>
        <p:spPr>
          <a:xfrm>
            <a:off x="411480" y="93276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5E6974"/>
                </a:solidFill>
                <a:effectLst/>
                <a:uFillTx/>
                <a:latin typeface="Arial"/>
              </a:rPr>
              <a:t>Separação de responsabilidades antes da autorização do serviço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5"/>
          <p:cNvSpPr/>
          <p:nvPr/>
        </p:nvSpPr>
        <p:spPr>
          <a:xfrm>
            <a:off x="11292840" y="32004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16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Rounded Rectangle 6"/>
          <p:cNvSpPr/>
          <p:nvPr/>
        </p:nvSpPr>
        <p:spPr>
          <a:xfrm>
            <a:off x="411480" y="1828800"/>
            <a:ext cx="260568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55" name="Oval 7"/>
          <p:cNvSpPr/>
          <p:nvPr/>
        </p:nvSpPr>
        <p:spPr>
          <a:xfrm>
            <a:off x="576000" y="2011680"/>
            <a:ext cx="456840" cy="456840"/>
          </a:xfrm>
          <a:prstGeom prst="ellipse">
            <a:avLst/>
          </a:prstGeom>
          <a:solidFill>
            <a:srgbClr val="EA8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56" name="TextBox 8"/>
          <p:cNvSpPr/>
          <p:nvPr/>
        </p:nvSpPr>
        <p:spPr>
          <a:xfrm>
            <a:off x="576000" y="2084760"/>
            <a:ext cx="456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9"/>
          <p:cNvSpPr/>
          <p:nvPr/>
        </p:nvSpPr>
        <p:spPr>
          <a:xfrm>
            <a:off x="1161360" y="197496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Mecânico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10"/>
          <p:cNvSpPr/>
          <p:nvPr/>
        </p:nvSpPr>
        <p:spPr>
          <a:xfrm>
            <a:off x="612720" y="2587680"/>
            <a:ext cx="2175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5E6974"/>
                </a:solidFill>
                <a:effectLst/>
                <a:uFillTx/>
                <a:latin typeface="Arial"/>
              </a:rPr>
              <a:t>Avalia a OS atribuída e salva serviços, peças e valores como rascunho.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Rounded Rectangle 11"/>
          <p:cNvSpPr/>
          <p:nvPr/>
        </p:nvSpPr>
        <p:spPr>
          <a:xfrm>
            <a:off x="3273480" y="1828800"/>
            <a:ext cx="260568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60" name="Oval 12"/>
          <p:cNvSpPr/>
          <p:nvPr/>
        </p:nvSpPr>
        <p:spPr>
          <a:xfrm>
            <a:off x="3438000" y="2011680"/>
            <a:ext cx="456840" cy="456840"/>
          </a:xfrm>
          <a:prstGeom prst="ellipse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61" name="TextBox 13"/>
          <p:cNvSpPr/>
          <p:nvPr/>
        </p:nvSpPr>
        <p:spPr>
          <a:xfrm>
            <a:off x="3438000" y="2084760"/>
            <a:ext cx="456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14"/>
          <p:cNvSpPr/>
          <p:nvPr/>
        </p:nvSpPr>
        <p:spPr>
          <a:xfrm>
            <a:off x="4023360" y="197496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Administrador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15"/>
          <p:cNvSpPr/>
          <p:nvPr/>
        </p:nvSpPr>
        <p:spPr>
          <a:xfrm>
            <a:off x="3474720" y="2587680"/>
            <a:ext cx="2175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5E6974"/>
                </a:solidFill>
                <a:effectLst/>
                <a:uFillTx/>
                <a:latin typeface="Arial"/>
              </a:rPr>
              <a:t>Revisa as informações e publica o orçamento para o cliente.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ounded Rectangle 16"/>
          <p:cNvSpPr/>
          <p:nvPr/>
        </p:nvSpPr>
        <p:spPr>
          <a:xfrm>
            <a:off x="6135480" y="1828800"/>
            <a:ext cx="260568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65" name="Oval 17"/>
          <p:cNvSpPr/>
          <p:nvPr/>
        </p:nvSpPr>
        <p:spPr>
          <a:xfrm>
            <a:off x="6300360" y="2011680"/>
            <a:ext cx="456840" cy="4568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66" name="TextBox 18"/>
          <p:cNvSpPr/>
          <p:nvPr/>
        </p:nvSpPr>
        <p:spPr>
          <a:xfrm>
            <a:off x="6300360" y="2084760"/>
            <a:ext cx="456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19"/>
          <p:cNvSpPr/>
          <p:nvPr/>
        </p:nvSpPr>
        <p:spPr>
          <a:xfrm>
            <a:off x="6885360" y="197496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Cliente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20"/>
          <p:cNvSpPr/>
          <p:nvPr/>
        </p:nvSpPr>
        <p:spPr>
          <a:xfrm>
            <a:off x="6336720" y="2587680"/>
            <a:ext cx="2175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5E6974"/>
                </a:solidFill>
                <a:effectLst/>
                <a:uFillTx/>
                <a:latin typeface="Arial"/>
              </a:rPr>
              <a:t>Consulta o orçamento publicado e registra aprovação ou recusa.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ounded Rectangle 21"/>
          <p:cNvSpPr/>
          <p:nvPr/>
        </p:nvSpPr>
        <p:spPr>
          <a:xfrm>
            <a:off x="8997840" y="1828800"/>
            <a:ext cx="260568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70" name="Oval 22"/>
          <p:cNvSpPr/>
          <p:nvPr/>
        </p:nvSpPr>
        <p:spPr>
          <a:xfrm>
            <a:off x="9162360" y="2011680"/>
            <a:ext cx="456840" cy="456840"/>
          </a:xfrm>
          <a:prstGeom prst="ellipse">
            <a:avLst/>
          </a:prstGeom>
          <a:solidFill>
            <a:srgbClr val="1D8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71" name="TextBox 23"/>
          <p:cNvSpPr/>
          <p:nvPr/>
        </p:nvSpPr>
        <p:spPr>
          <a:xfrm>
            <a:off x="9162360" y="2084760"/>
            <a:ext cx="456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24"/>
          <p:cNvSpPr/>
          <p:nvPr/>
        </p:nvSpPr>
        <p:spPr>
          <a:xfrm>
            <a:off x="9747360" y="197496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Mecânico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25"/>
          <p:cNvSpPr/>
          <p:nvPr/>
        </p:nvSpPr>
        <p:spPr>
          <a:xfrm>
            <a:off x="9198720" y="2587680"/>
            <a:ext cx="2175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5E6974"/>
                </a:solidFill>
                <a:effectLst/>
                <a:uFillTx/>
                <a:latin typeface="Arial"/>
              </a:rPr>
              <a:t>Após a aprovação, executa, descreve e conclui o serviço.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26"/>
          <p:cNvSpPr/>
          <p:nvPr/>
        </p:nvSpPr>
        <p:spPr>
          <a:xfrm>
            <a:off x="594360" y="4160520"/>
            <a:ext cx="10972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4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Rascunhos não são exibidos ao Cliente. A publicação fica registrada com data e Administrador responsável.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Rounded Rectangle 27"/>
          <p:cNvSpPr/>
          <p:nvPr/>
        </p:nvSpPr>
        <p:spPr>
          <a:xfrm>
            <a:off x="2057400" y="5074920"/>
            <a:ext cx="8092080" cy="712800"/>
          </a:xfrm>
          <a:prstGeom prst="roundRect">
            <a:avLst>
              <a:gd name="adj" fmla="val 16667"/>
            </a:avLst>
          </a:prstGeom>
          <a:solidFill>
            <a:srgbClr val="0C1B25"/>
          </a:solidFill>
          <a:ln>
            <a:solidFill>
              <a:srgbClr val="0C1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76" name="TextBox 28"/>
          <p:cNvSpPr/>
          <p:nvPr/>
        </p:nvSpPr>
        <p:spPr>
          <a:xfrm>
            <a:off x="2240280" y="5294520"/>
            <a:ext cx="7726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Fluxo controlado  •  Responsabilidades claras  •  Histórico rastreável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29"/>
          <p:cNvSpPr/>
          <p:nvPr/>
        </p:nvSpPr>
        <p:spPr>
          <a:xfrm>
            <a:off x="411480" y="6510600"/>
            <a:ext cx="50288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600" b="0" u="none" strike="noStrike">
                <a:solidFill>
                  <a:srgbClr val="5E6974"/>
                </a:solidFill>
                <a:effectLst/>
                <a:uFillTx/>
                <a:latin typeface="Arial"/>
              </a:rPr>
              <a:t>Garagem 66  •  Projeto Multidisciplinar III</a:t>
            </a:r>
            <a:endParaRPr lang="pt-BR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30"/>
          <p:cNvSpPr/>
          <p:nvPr/>
        </p:nvSpPr>
        <p:spPr>
          <a:xfrm>
            <a:off x="11320200" y="6510600"/>
            <a:ext cx="3654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16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Rectangle 1"/>
          <p:cNvSpPr/>
          <p:nvPr/>
        </p:nvSpPr>
        <p:spPr>
          <a:xfrm>
            <a:off x="274320" y="255960"/>
            <a:ext cx="54360" cy="43848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80" name="TextBox 2"/>
          <p:cNvSpPr/>
          <p:nvPr/>
        </p:nvSpPr>
        <p:spPr>
          <a:xfrm>
            <a:off x="411480" y="22860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1" u="none" strike="noStrike">
                <a:solidFill>
                  <a:srgbClr val="D71920"/>
                </a:solidFill>
                <a:effectLst/>
                <a:uFillTx/>
                <a:latin typeface="Arial"/>
              </a:rPr>
              <a:t>PRODUTO ENTREGUE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3"/>
          <p:cNvSpPr/>
          <p:nvPr/>
        </p:nvSpPr>
        <p:spPr>
          <a:xfrm>
            <a:off x="411480" y="475560"/>
            <a:ext cx="8960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4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Aplicação publicada e demonstrável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4"/>
          <p:cNvSpPr/>
          <p:nvPr/>
        </p:nvSpPr>
        <p:spPr>
          <a:xfrm>
            <a:off x="411480" y="932760"/>
            <a:ext cx="9875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5E6974"/>
                </a:solidFill>
                <a:effectLst/>
                <a:uFillTx/>
                <a:latin typeface="Arial"/>
              </a:rPr>
              <a:t>Acesso por navegador em notebooks e smartphones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5"/>
          <p:cNvSpPr/>
          <p:nvPr/>
        </p:nvSpPr>
        <p:spPr>
          <a:xfrm>
            <a:off x="11292840" y="32004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17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Rounded Rectangle 6"/>
          <p:cNvSpPr/>
          <p:nvPr/>
        </p:nvSpPr>
        <p:spPr>
          <a:xfrm>
            <a:off x="530280" y="1508760"/>
            <a:ext cx="6629040" cy="425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85" name="TextBox 7"/>
          <p:cNvSpPr/>
          <p:nvPr/>
        </p:nvSpPr>
        <p:spPr>
          <a:xfrm>
            <a:off x="822960" y="181044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5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Ambiente de produção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8"/>
          <p:cNvSpPr/>
          <p:nvPr/>
        </p:nvSpPr>
        <p:spPr>
          <a:xfrm>
            <a:off x="822960" y="2331720"/>
            <a:ext cx="5303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500" b="1" u="none" strike="noStrike">
                <a:solidFill>
                  <a:srgbClr val="D71920"/>
                </a:solidFill>
                <a:effectLst/>
                <a:uFillTx/>
                <a:latin typeface="Arial"/>
              </a:rPr>
              <a:t>garagem-66.vercel.app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9"/>
          <p:cNvSpPr/>
          <p:nvPr/>
        </p:nvSpPr>
        <p:spPr>
          <a:xfrm>
            <a:off x="822960" y="292608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200" b="1" u="sng" strike="noStrike">
                <a:solidFill>
                  <a:srgbClr val="0563C1"/>
                </a:solidFill>
                <a:effectLst/>
                <a:uFillTx/>
                <a:latin typeface="Arial"/>
                <a:hlinkClick r:id="rId1"/>
              </a:rPr>
              <a:t>https://garagem-66.vercel.app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10"/>
          <p:cNvSpPr/>
          <p:nvPr/>
        </p:nvSpPr>
        <p:spPr>
          <a:xfrm>
            <a:off x="822960" y="37033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1" u="none" strike="noStrike">
                <a:solidFill>
                  <a:srgbClr val="5E6974"/>
                </a:solidFill>
                <a:effectLst/>
                <a:uFillTx/>
                <a:latin typeface="Arial"/>
              </a:rPr>
              <a:t>Frontend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11"/>
          <p:cNvSpPr/>
          <p:nvPr/>
        </p:nvSpPr>
        <p:spPr>
          <a:xfrm>
            <a:off x="2057400" y="37033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Vercel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12"/>
          <p:cNvSpPr/>
          <p:nvPr/>
        </p:nvSpPr>
        <p:spPr>
          <a:xfrm>
            <a:off x="822960" y="41605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1" u="none" strike="noStrike">
                <a:solidFill>
                  <a:srgbClr val="5E6974"/>
                </a:solidFill>
                <a:effectLst/>
                <a:uFillTx/>
                <a:latin typeface="Arial"/>
              </a:rPr>
              <a:t>API e banco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13"/>
          <p:cNvSpPr/>
          <p:nvPr/>
        </p:nvSpPr>
        <p:spPr>
          <a:xfrm>
            <a:off x="2057400" y="41605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Render + PostgreSQL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14"/>
          <p:cNvSpPr/>
          <p:nvPr/>
        </p:nvSpPr>
        <p:spPr>
          <a:xfrm>
            <a:off x="822960" y="46177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1" u="none" strike="noStrike">
                <a:solidFill>
                  <a:srgbClr val="5E6974"/>
                </a:solidFill>
                <a:effectLst/>
                <a:uFillTx/>
                <a:latin typeface="Arial"/>
              </a:rPr>
              <a:t>Interface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15"/>
          <p:cNvSpPr/>
          <p:nvPr/>
        </p:nvSpPr>
        <p:spPr>
          <a:xfrm>
            <a:off x="2057400" y="461772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111820"/>
                </a:solidFill>
                <a:effectLst/>
                <a:uFillTx/>
                <a:latin typeface="Arial"/>
              </a:rPr>
              <a:t>Responsiva e orientada por perfil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Rounded Rectangle 16"/>
          <p:cNvSpPr/>
          <p:nvPr/>
        </p:nvSpPr>
        <p:spPr>
          <a:xfrm>
            <a:off x="7498080" y="1508760"/>
            <a:ext cx="4160160" cy="4251600"/>
          </a:xfrm>
          <a:prstGeom prst="roundRect">
            <a:avLst>
              <a:gd name="adj" fmla="val 16667"/>
            </a:avLst>
          </a:prstGeom>
          <a:solidFill>
            <a:srgbClr val="0C1B25"/>
          </a:solidFill>
          <a:ln>
            <a:solidFill>
              <a:srgbClr val="0C1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95" name="TextBox 17"/>
          <p:cNvSpPr/>
          <p:nvPr/>
        </p:nvSpPr>
        <p:spPr>
          <a:xfrm>
            <a:off x="7845480" y="184716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Roteiro de demonstração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18"/>
          <p:cNvSpPr/>
          <p:nvPr/>
        </p:nvSpPr>
        <p:spPr>
          <a:xfrm>
            <a:off x="7845480" y="251460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1. Atendente registra a entrada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19"/>
          <p:cNvSpPr/>
          <p:nvPr/>
        </p:nvSpPr>
        <p:spPr>
          <a:xfrm>
            <a:off x="7845480" y="303588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2. Mecânico prepara o orçamento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20"/>
          <p:cNvSpPr/>
          <p:nvPr/>
        </p:nvSpPr>
        <p:spPr>
          <a:xfrm>
            <a:off x="7845480" y="355716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3. Administrador publica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21"/>
          <p:cNvSpPr/>
          <p:nvPr/>
        </p:nvSpPr>
        <p:spPr>
          <a:xfrm>
            <a:off x="7845480" y="407808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4. Cliente aprova ou recusa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22"/>
          <p:cNvSpPr/>
          <p:nvPr/>
        </p:nvSpPr>
        <p:spPr>
          <a:xfrm>
            <a:off x="7845480" y="459936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5. Mecânico conclui a 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23"/>
          <p:cNvSpPr/>
          <p:nvPr/>
        </p:nvSpPr>
        <p:spPr>
          <a:xfrm>
            <a:off x="7845480" y="521208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00" b="1" u="none" strike="noStrike">
                <a:solidFill>
                  <a:srgbClr val="A9C7FF"/>
                </a:solidFill>
                <a:effectLst/>
                <a:uFillTx/>
                <a:latin typeface="Arial"/>
              </a:rPr>
              <a:t>Dados totalmente fictícios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24"/>
          <p:cNvSpPr/>
          <p:nvPr/>
        </p:nvSpPr>
        <p:spPr>
          <a:xfrm>
            <a:off x="411480" y="6510600"/>
            <a:ext cx="50288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600" b="0" u="none" strike="noStrike">
                <a:solidFill>
                  <a:srgbClr val="5E6974"/>
                </a:solidFill>
                <a:effectLst/>
                <a:uFillTx/>
                <a:latin typeface="Arial"/>
              </a:rPr>
              <a:t>Garagem 66  •  Projeto Multidisciplinar III</a:t>
            </a:r>
            <a:endParaRPr lang="pt-BR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25"/>
          <p:cNvSpPr/>
          <p:nvPr/>
        </p:nvSpPr>
        <p:spPr>
          <a:xfrm>
            <a:off x="11320200" y="6510600"/>
            <a:ext cx="3654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17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Image 0" descr="/mnt/data/hero_login.png"/>
          <p:cNvPicPr/>
          <p:nvPr/>
        </p:nvPicPr>
        <p:blipFill>
          <a:blip r:embed="rId1"/>
          <a:stretch/>
        </p:blipFill>
        <p:spPr>
          <a:xfrm>
            <a:off x="6537960" y="2247480"/>
            <a:ext cx="4983120" cy="195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Shape 0"/>
          <p:cNvSpPr/>
          <p:nvPr/>
        </p:nvSpPr>
        <p:spPr>
          <a:xfrm>
            <a:off x="6309360" y="640080"/>
            <a:ext cx="82080" cy="5348880"/>
          </a:xfrm>
          <a:prstGeom prst="rect">
            <a:avLst/>
          </a:prstGeom>
          <a:solidFill>
            <a:srgbClr val="C8161D"/>
          </a:solidFill>
          <a:ln w="12700">
            <a:solidFill>
              <a:srgbClr val="C816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6" name="Text 1"/>
          <p:cNvSpPr/>
          <p:nvPr/>
        </p:nvSpPr>
        <p:spPr>
          <a:xfrm>
            <a:off x="658440" y="150876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Resultados alcançados</a:t>
            </a:r>
            <a:endParaRPr lang="pt-B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2"/>
          <p:cNvSpPr/>
          <p:nvPr/>
        </p:nvSpPr>
        <p:spPr>
          <a:xfrm>
            <a:off x="713160" y="2331720"/>
            <a:ext cx="5348880" cy="529920"/>
          </a:xfrm>
          <a:prstGeom prst="roundRect">
            <a:avLst>
              <a:gd name="adj" fmla="val 1551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8" name="Text 3"/>
          <p:cNvSpPr/>
          <p:nvPr/>
        </p:nvSpPr>
        <p:spPr>
          <a:xfrm>
            <a:off x="960120" y="243216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Mais organização</a:t>
            </a:r>
            <a:endParaRPr lang="pt-B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4"/>
          <p:cNvSpPr/>
          <p:nvPr/>
        </p:nvSpPr>
        <p:spPr>
          <a:xfrm>
            <a:off x="2606040" y="2432160"/>
            <a:ext cx="3181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5C6670"/>
                </a:solidFill>
                <a:effectLst/>
                <a:uFillTx/>
                <a:latin typeface="Aptos"/>
              </a:rPr>
              <a:t>Centralização de clientes, motos, OS, orçamentos, estoque e histórico.</a:t>
            </a:r>
            <a:endParaRPr lang="pt-BR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5"/>
          <p:cNvSpPr/>
          <p:nvPr/>
        </p:nvSpPr>
        <p:spPr>
          <a:xfrm>
            <a:off x="713160" y="3117960"/>
            <a:ext cx="5348880" cy="529920"/>
          </a:xfrm>
          <a:prstGeom prst="roundRect">
            <a:avLst>
              <a:gd name="adj" fmla="val 1551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1" name="Text 6"/>
          <p:cNvSpPr/>
          <p:nvPr/>
        </p:nvSpPr>
        <p:spPr>
          <a:xfrm>
            <a:off x="960120" y="321876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Mais segurança</a:t>
            </a:r>
            <a:endParaRPr lang="pt-B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7"/>
          <p:cNvSpPr/>
          <p:nvPr/>
        </p:nvSpPr>
        <p:spPr>
          <a:xfrm>
            <a:off x="2606040" y="3218760"/>
            <a:ext cx="3181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5C6670"/>
                </a:solidFill>
                <a:effectLst/>
                <a:uFillTx/>
                <a:latin typeface="Aptos"/>
              </a:rPr>
              <a:t>Registro de entrada com checklist, fotos, avarias e acessórios.</a:t>
            </a:r>
            <a:endParaRPr lang="pt-BR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8"/>
          <p:cNvSpPr/>
          <p:nvPr/>
        </p:nvSpPr>
        <p:spPr>
          <a:xfrm>
            <a:off x="713160" y="3904560"/>
            <a:ext cx="5348880" cy="529920"/>
          </a:xfrm>
          <a:prstGeom prst="roundRect">
            <a:avLst>
              <a:gd name="adj" fmla="val 1551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4" name="Text 9"/>
          <p:cNvSpPr/>
          <p:nvPr/>
        </p:nvSpPr>
        <p:spPr>
          <a:xfrm>
            <a:off x="960120" y="400500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Mais transparência</a:t>
            </a:r>
            <a:endParaRPr lang="pt-B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0"/>
          <p:cNvSpPr/>
          <p:nvPr/>
        </p:nvSpPr>
        <p:spPr>
          <a:xfrm>
            <a:off x="2606040" y="4005000"/>
            <a:ext cx="3181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5C6670"/>
                </a:solidFill>
                <a:effectLst/>
                <a:uFillTx/>
                <a:latin typeface="Aptos"/>
              </a:rPr>
              <a:t>Cliente acompanha OS, consulta orçamento e registra sua decisão.</a:t>
            </a:r>
            <a:endParaRPr lang="pt-BR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1"/>
          <p:cNvSpPr/>
          <p:nvPr/>
        </p:nvSpPr>
        <p:spPr>
          <a:xfrm>
            <a:off x="713160" y="4690800"/>
            <a:ext cx="5348880" cy="529920"/>
          </a:xfrm>
          <a:prstGeom prst="roundRect">
            <a:avLst>
              <a:gd name="adj" fmla="val 1551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7" name="Text 12"/>
          <p:cNvSpPr/>
          <p:nvPr/>
        </p:nvSpPr>
        <p:spPr>
          <a:xfrm>
            <a:off x="960120" y="4791600"/>
            <a:ext cx="1645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B1419"/>
                </a:solidFill>
                <a:effectLst/>
                <a:uFillTx/>
                <a:latin typeface="Aptos"/>
              </a:rPr>
              <a:t>Menos retrabalho</a:t>
            </a:r>
            <a:endParaRPr lang="pt-B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3"/>
          <p:cNvSpPr/>
          <p:nvPr/>
        </p:nvSpPr>
        <p:spPr>
          <a:xfrm>
            <a:off x="2606040" y="4791600"/>
            <a:ext cx="3181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5C6670"/>
                </a:solidFill>
                <a:effectLst/>
                <a:uFillTx/>
                <a:latin typeface="Aptos"/>
              </a:rPr>
              <a:t>Redução de falhas operacionais e perda de informações.</a:t>
            </a:r>
            <a:endParaRPr lang="pt-BR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4"/>
          <p:cNvSpPr/>
          <p:nvPr/>
        </p:nvSpPr>
        <p:spPr>
          <a:xfrm>
            <a:off x="713160" y="5897880"/>
            <a:ext cx="5257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 projeto entregou uma solução web viável, publicada e preparada para evoluir com as necessidades da oficina.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B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Rectangle 1"/>
          <p:cNvSpPr/>
          <p:nvPr/>
        </p:nvSpPr>
        <p:spPr>
          <a:xfrm>
            <a:off x="914400" y="1051560"/>
            <a:ext cx="72720" cy="4297320"/>
          </a:xfrm>
          <a:prstGeom prst="rect">
            <a:avLst/>
          </a:prstGeom>
          <a:solidFill>
            <a:srgbClr val="D7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21" name="TextBox 2"/>
          <p:cNvSpPr/>
          <p:nvPr/>
        </p:nvSpPr>
        <p:spPr>
          <a:xfrm>
            <a:off x="1298520" y="123444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00" b="1" u="none" strike="noStrike">
                <a:solidFill>
                  <a:srgbClr val="D71920"/>
                </a:solidFill>
                <a:effectLst/>
                <a:uFillTx/>
                <a:latin typeface="Arial"/>
              </a:rPr>
              <a:t>GARAGEM 66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3"/>
          <p:cNvSpPr/>
          <p:nvPr/>
        </p:nvSpPr>
        <p:spPr>
          <a:xfrm>
            <a:off x="1298520" y="1755720"/>
            <a:ext cx="69490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pt-BR" sz="3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Organização, segurança</a:t>
            </a:r>
            <a:endParaRPr lang="pt-B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3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 transparência.</a:t>
            </a:r>
            <a:endParaRPr lang="pt-B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4"/>
          <p:cNvSpPr/>
          <p:nvPr/>
        </p:nvSpPr>
        <p:spPr>
          <a:xfrm>
            <a:off x="1298520" y="3337560"/>
            <a:ext cx="713196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pt-BR" sz="1600" b="0" u="none" strike="noStrike">
                <a:solidFill>
                  <a:srgbClr val="CDD8E2"/>
                </a:solidFill>
                <a:effectLst/>
                <a:uFillTx/>
                <a:latin typeface="Arial"/>
              </a:rPr>
              <a:t>Uma solução web funcional, testada e publicada para apoiar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rgbClr val="CDD8E2"/>
                </a:solidFill>
                <a:effectLst/>
                <a:uFillTx/>
                <a:latin typeface="Arial"/>
              </a:rPr>
              <a:t>o atendimento de oficinas de motocicletas de alta cilindrada.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5"/>
          <p:cNvSpPr/>
          <p:nvPr/>
        </p:nvSpPr>
        <p:spPr>
          <a:xfrm>
            <a:off x="1298520" y="480060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Obrigado!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6"/>
          <p:cNvSpPr/>
          <p:nvPr/>
        </p:nvSpPr>
        <p:spPr>
          <a:xfrm>
            <a:off x="1298520" y="5943600"/>
            <a:ext cx="6400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91A0AE"/>
                </a:solidFill>
                <a:effectLst/>
                <a:uFillTx/>
                <a:latin typeface="Arial"/>
              </a:rPr>
              <a:t>Dicson Dantas Junior  •  Projeto Multidisciplinar III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7"/>
          <p:cNvSpPr/>
          <p:nvPr/>
        </p:nvSpPr>
        <p:spPr>
          <a:xfrm>
            <a:off x="8458200" y="591624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rgbClr val="A9C7FF"/>
                </a:solidFill>
                <a:effectLst/>
                <a:uFillTx/>
                <a:latin typeface="Arial"/>
              </a:rPr>
              <a:t>garagem-66.vercel.app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LibreOffice/26.2.0.3$Windows_X86_64 LibreOffice_project/620$Build-3</Application>
  <AppVersion>15.0000</AppVersion>
  <Words>0</Words>
  <Paragraphs>0</Paragraphs>
  <Company>Garagem 66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2026-08-14T03:20:43Z</dcterms:created>
  <dc:creator>OpenAI</dc:creator>
  <dc:description/>
  <dc:language>pt-BR</dc:language>
  <cp:lastModifiedBy/>
  <dcterms:modified xsi:type="dcterms:W3CDTF">2026-08-23T18:13:38Z</dcterms:modified>
  <cp:revision>3</cp:revision>
  <dc:subject>Apresentação do projeto Garagem 66</dc:subject>
  <dc:title>Garagem 66 - Sistema Web de Gerenciamento para Oficinas de Motos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